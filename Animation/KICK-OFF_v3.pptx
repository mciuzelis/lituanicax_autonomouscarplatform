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82" r:id="rId3"/>
    <p:sldId id="271" r:id="rId4"/>
    <p:sldId id="258" r:id="rId5"/>
    <p:sldId id="279" r:id="rId6"/>
    <p:sldId id="280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74" r:id="rId22"/>
    <p:sldId id="300" r:id="rId23"/>
    <p:sldId id="297" r:id="rId24"/>
    <p:sldId id="298" r:id="rId25"/>
    <p:sldId id="299" r:id="rId26"/>
    <p:sldId id="275" r:id="rId27"/>
    <p:sldId id="277" r:id="rId28"/>
    <p:sldId id="27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E91C0-845C-465D-B405-951F9BF2D25C}" v="1" dt="2026-09-07T11:38:38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3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440EC-9730-A57C-D4BA-6596AD97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67B96-FA66-7399-C5A5-80253912A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D20DD-473E-7E30-A684-7896CEDD1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4F65B-5BDA-AE28-E14F-8B65659301B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5252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49768-057B-77B2-3DCC-FBBF1E71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B19EF-DE54-7E91-9DBC-0B0A2A267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8ABF1-6F6B-70D7-DB41-001DFA3D1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2996-B4DF-BC14-D34F-DF37D4DDC09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6277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9EFF4-CA72-41FE-C5E3-3719EC394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84640-2670-80AD-A865-44D61AA41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8B345-E546-233B-79B3-2717D2884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47583-3119-0215-5CEC-748905D0E71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697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F1B7C-3770-FB0E-AAEF-326EC7318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80138-0E76-44B2-E128-8C219FF76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C09F1-9EA5-6E1F-37C7-F6F19AB8B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95F37-BFBA-C3F1-EB8E-C22EF34A23B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4024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1CE9-97D1-F506-D399-B2264B29A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96826-4157-580A-AF67-0F5504238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6BA37-1A83-5625-74A6-BD947C215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38F94-B6D9-F8CF-7F67-0ACDA06C83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7009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2CE86-2336-621E-F9A7-E477E584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64AEF-FF46-B7DC-D325-38D0F2109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772BC-7B98-8A8E-DEBA-7235B93E8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324C1-D7D0-B384-6BA8-3A2E21B911F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8890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3682-4017-3821-084B-9FE0C340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0EBC1-9426-EC44-BA87-23B637DF5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442F0-4A7E-83CB-F375-99356DE30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FD4DA-6E50-8B0F-4162-861A56C01B1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9111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3C91-115D-A0C8-C603-4FADDBAE9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59D44-BE85-5C12-13B6-7BB31DC0E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04873-64F6-E00E-F6EF-774A39588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8AB0F-E77E-5457-3268-36C7F3BE89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0996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ABDA9-2B9B-C2C2-33C1-185CDB39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583A7-5374-B46D-B14D-BD2BC7767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84C5E-1951-8250-0F45-AEC07761E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D8EF2-AF9C-A598-0AB5-4823ECB09B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3884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9249B-D840-593A-B834-D98EE3D8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C4FFC-5DEF-874C-FBB0-121DDFC43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96C25-3226-1CDB-9F1F-06E839FA6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BB958-29AE-28C4-BE22-85A3AB48C4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1737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DC8E5-5091-8404-5AC1-A41E0F28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CD334-A124-9796-3BD0-034A177F2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7AAAD-467D-4DF1-8307-FB6090752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6D24C-0051-3614-EBC1-3590AF007E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2102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9CF55-DA14-82E5-A970-595AE309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E4749-B306-2870-CF0C-4743314BA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F81A5-9B5D-8BB1-599D-E4D475ACA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10350-6D70-15ED-7209-23D0E85A6E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15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CC2A2-9A49-3950-EF1F-2651197B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8C440-C76E-8647-6D60-244BB47F5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5F961-0C60-2F77-4B7C-3B5788776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B6E47-7442-ABF0-EF15-14C0815B4C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8361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791-C544-91F0-76F9-33EDD4038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84610-4615-B036-CA3A-A88630DBC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7D3FD-2BBD-C83F-A41B-8A4A3BB85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D2845-BC07-07A2-0788-03E7343FB1F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2163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AI Racing competition logo (supplied in this task).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4B53F-9058-1DA0-90B9-40EFBFE1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F93DC-A21E-933B-8C3C-3522CED20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200A6-A09C-FC47-7CEE-31ECF44AA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AI Racing competition logo (supplied in this task).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9DF49-5974-0B44-DB5C-7044E510224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88538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9776-0529-A18E-B26D-71A51393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98B5B-32EB-4986-DE17-633F2C9D3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19AB4-2CC7-EA08-A1D9-B5C66CBAA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AI Racing competition logo (supplied in this task).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CD03E-D27C-8EA2-70F7-0A193C1D78E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8112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5CBD-DEEF-A737-BF9A-54760C2B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11CCA-BA58-F9B4-BCB3-B5F70F9AE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91A87-F38D-B6E7-2015-C8B9E5AA5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7A187-5F60-E299-25FF-C2644702C2E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4296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F1031-C4BE-0490-BBEE-39160EBC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42E18-8443-C07C-E840-EA48F048F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8FBFE-6BD9-B112-140B-DDE817AFB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1336C-6B2E-DEC4-A397-AFEF2524D7D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94279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411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8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hyperlink" Target="mailto:FTC.Lietuva@gmail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mes.recf.org/adc/calculator" TargetMode="External"/><Relationship Id="rId5" Type="http://schemas.openxmlformats.org/officeDocument/2006/relationships/hyperlink" Target="https://games.recf.org/adc/1.0?_gl=1*xoip3r*_ga*MjEyMDQ5MDIyNS4xNzcxODY5OTQ3*_ga_1M8RWDY38H*czE3ODg2MjU5OTAkbzExJGcxJHQxNzg4NjI1OTk1JGo1NSRsMCRoMA..*_gcl_au*MTA4ODI3NzYwNy4xNzg0NzQ1NzY4*_ga_S0FW5F34SH*czE3ODg2MjU5OTAkbzI3JGcxJHQxNzg4NjI1OTk1JGo1NSRsMCRoMA.." TargetMode="External"/><Relationship Id="rId4" Type="http://schemas.openxmlformats.org/officeDocument/2006/relationships/hyperlink" Target="https://drive.google.com/drive/folders/1u_TkzJ73XMSzUIiPfg9W_nqeVKChYSex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513710-3B06-4D05-A7F5-30623E89EB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66A1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2648" y="5101209"/>
            <a:ext cx="1366515" cy="14180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BBBEC2-4D12-4335-BBBE-F7E254BEEB2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619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 dirty="0">
                <a:solidFill>
                  <a:srgbClr val="FFFFFF"/>
                </a:solidFill>
              </a:rPr>
              <a:t>LITUANICA X</a:t>
            </a:r>
            <a:endParaRPr lang="en-US" sz="4350" b="1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EBC31-9743-494C-800C-913AAB1B302F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590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0">
                <a:solidFill>
                  <a:srgbClr val="E4ECF5"/>
                </a:solidFill>
              </a:defRPr>
            </a:pPr>
            <a:r>
              <a:rPr lang="en-US" sz="3200" b="0" dirty="0">
                <a:solidFill>
                  <a:srgbClr val="E4ECF5"/>
                </a:solidFill>
              </a:rPr>
              <a:t>KICK-OFF</a:t>
            </a:r>
          </a:p>
          <a:p>
            <a:pPr algn="l">
              <a:defRPr sz="2025" b="0">
                <a:solidFill>
                  <a:srgbClr val="E4ECF5"/>
                </a:solidFill>
              </a:defRPr>
            </a:pPr>
            <a:r>
              <a:rPr lang="en-US" sz="2400" b="0" dirty="0">
                <a:solidFill>
                  <a:srgbClr val="E4ECF5"/>
                </a:solidFill>
              </a:rPr>
              <a:t>Rugs</a:t>
            </a:r>
            <a:r>
              <a:rPr lang="lt-LT" sz="2400" b="0" dirty="0">
                <a:solidFill>
                  <a:srgbClr val="E4ECF5"/>
                </a:solidFill>
              </a:rPr>
              <a:t>ėjo </a:t>
            </a:r>
            <a:r>
              <a:rPr lang="en-US" sz="2400" b="0" dirty="0">
                <a:solidFill>
                  <a:srgbClr val="E4ECF5"/>
                </a:solidFill>
              </a:rPr>
              <a:t>12 d, 2026</a:t>
            </a:r>
            <a:endParaRPr sz="2400" b="0" dirty="0">
              <a:solidFill>
                <a:srgbClr val="E4ECF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27C4-CD9C-4727-B4F9-218DAE47F90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81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C7D6E8"/>
                </a:solidFill>
              </a:defRPr>
            </a:pPr>
            <a:endParaRPr sz="1500" b="0" dirty="0">
              <a:solidFill>
                <a:srgbClr val="C7D6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58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8CBD3-BB09-F775-6028-F54E33A4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FB83DB-906D-C89F-7F79-9F1C3D5FC14A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B3B"/>
                </a:solidFill>
              </a:defRPr>
            </a:pPr>
            <a:r>
              <a:rPr lang="en-US" sz="3200" i="1" dirty="0">
                <a:solidFill>
                  <a:schemeClr val="accent4">
                    <a:lumMod val="50000"/>
                  </a:schemeClr>
                </a:solidFill>
              </a:rPr>
              <a:t>KICK-OFF AGENDA</a:t>
            </a:r>
            <a:endParaRPr sz="3200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FBD80-AFDA-0748-8A9D-119E3F32FA79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B275D4-3D7A-041E-F182-182EC01C7AC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LITUANICA X  /  ROBOTICS FORCE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BC7ADE-54DF-FB6C-DCB7-FE64556C592F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6"/>
                </a:solidFill>
              </a:defRPr>
            </a:pPr>
            <a:r>
              <a:rPr sz="825" b="1" dirty="0">
                <a:solidFill>
                  <a:srgbClr val="607086"/>
                </a:solidFill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3D5D3-85F2-FE64-4459-E55693A08283}"/>
              </a:ext>
            </a:extLst>
          </p:cNvPr>
          <p:cNvSpPr>
            <a:spLocks noGrp="1"/>
          </p:cNvSpPr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</a:rPr>
              <a:t>Many entry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5684A-10A8-5A89-3484-BB2BA518A501}"/>
              </a:ext>
            </a:extLst>
          </p:cNvPr>
          <p:cNvSpPr txBox="1"/>
          <p:nvPr/>
        </p:nvSpPr>
        <p:spPr>
          <a:xfrm>
            <a:off x="612136" y="1524317"/>
            <a:ext cx="80169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FTC</a:t>
            </a:r>
            <a:r>
              <a:rPr lang="en-US" sz="1400" b="1" dirty="0"/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Robot Games </a:t>
            </a:r>
            <a:r>
              <a:rPr lang="en-US" sz="1400" dirty="0" err="1">
                <a:solidFill>
                  <a:schemeClr val="accent4">
                    <a:lumMod val="50000"/>
                  </a:schemeClr>
                </a:solidFill>
              </a:rPr>
              <a:t>ir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LT </a:t>
            </a:r>
            <a:r>
              <a:rPr lang="lt-LT" b="1" dirty="0">
                <a:solidFill>
                  <a:schemeClr val="accent4">
                    <a:lumMod val="50000"/>
                  </a:schemeClr>
                </a:solidFill>
              </a:rPr>
              <a:t>čempionato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sezonas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16:00 - 16:20</a:t>
            </a: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F</a:t>
            </a:r>
            <a:r>
              <a:rPr lang="lt-LT" b="1" dirty="0">
                <a:solidFill>
                  <a:schemeClr val="accent4">
                    <a:lumMod val="50000"/>
                  </a:schemeClr>
                </a:solidFill>
              </a:rPr>
              <a:t>LL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sezonas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16: 20 - 16:40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b="1" dirty="0">
                <a:solidFill>
                  <a:schemeClr val="accent4">
                    <a:lumMod val="50000"/>
                  </a:schemeClr>
                </a:solidFill>
              </a:rPr>
              <a:t>Dronų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lygos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sezonas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16:40 - 17:00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BACK TO SCHOOL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lumnų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žaidimo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apdovanojimai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17:00 – 17:15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Pertrauka 17:15 – 17:30 (FTC Skill Builders drivers meeting)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FTC</a:t>
            </a:r>
            <a:r>
              <a:rPr lang="lt-LT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</a:t>
            </a:r>
            <a:r>
              <a:rPr lang="lt-LT" b="1" dirty="0">
                <a:solidFill>
                  <a:schemeClr val="accent4">
                    <a:lumMod val="50000"/>
                  </a:schemeClr>
                </a:solidFill>
              </a:rPr>
              <a:t>KILL BUILDERS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va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r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ž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ybos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17:30 -19:00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FTC New Game Reveal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19:00 </a:t>
            </a:r>
            <a:endParaRPr lang="he-IL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i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83FA97-2F58-31F4-9717-538E7C59080F}"/>
              </a:ext>
            </a:extLst>
          </p:cNvPr>
          <p:cNvSpPr>
            <a:spLocks noGrp="1"/>
          </p:cNvSpPr>
          <p:nvPr/>
        </p:nvSpPr>
        <p:spPr>
          <a:xfrm>
            <a:off x="0" y="5604312"/>
            <a:ext cx="12192000" cy="1253688"/>
          </a:xfrm>
          <a:prstGeom prst="rect">
            <a:avLst/>
          </a:prstGeom>
          <a:solidFill>
            <a:srgbClr val="071B3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377382-61CE-9D7E-FD55-2B00FF3D4161}"/>
              </a:ext>
            </a:extLst>
          </p:cNvPr>
          <p:cNvSpPr>
            <a:spLocks noGrp="1"/>
          </p:cNvSpPr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925" b="1">
                <a:solidFill>
                  <a:srgbClr val="FFFFFF"/>
                </a:solidFill>
              </a:defRPr>
            </a:pPr>
            <a:r>
              <a:rPr lang="lt-LT" sz="2000" i="1" dirty="0">
                <a:solidFill>
                  <a:srgbClr val="FFFFFF"/>
                </a:solidFill>
              </a:rPr>
              <a:t>Mokslas, bendrystė ir technologijos</a:t>
            </a:r>
            <a:endParaRPr sz="2000" i="1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740723-A169-2683-BF00-4B8E7EA8B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53750" y="5637657"/>
            <a:ext cx="1175967" cy="122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26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6544-070D-953F-2137-6D8E9AA9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6ADE4A-D049-A664-E1E8-5C112F42733F}"/>
              </a:ext>
            </a:extLst>
          </p:cNvPr>
          <p:cNvSpPr>
            <a:spLocks noGrp="1"/>
          </p:cNvSpPr>
          <p:nvPr/>
        </p:nvSpPr>
        <p:spPr>
          <a:xfrm>
            <a:off x="0" y="-3257"/>
            <a:ext cx="12192000" cy="6858000"/>
          </a:xfrm>
          <a:prstGeom prst="rect">
            <a:avLst/>
          </a:prstGeom>
          <a:solidFill>
            <a:srgbClr val="DDEA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E65C66-30C1-A5E2-09CD-7A3BBD71BC6F}"/>
              </a:ext>
            </a:extLst>
          </p:cNvPr>
          <p:cNvSpPr>
            <a:spLocks noGrp="1"/>
          </p:cNvSpPr>
          <p:nvPr/>
        </p:nvSpPr>
        <p:spPr>
          <a:xfrm>
            <a:off x="0" y="5637655"/>
            <a:ext cx="12192000" cy="1220343"/>
          </a:xfrm>
          <a:prstGeom prst="rect">
            <a:avLst/>
          </a:prstGeom>
          <a:solidFill>
            <a:srgbClr val="071B3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3538ED-7F82-19D2-F89F-46B5E7D0C1E0}"/>
              </a:ext>
            </a:extLst>
          </p:cNvPr>
          <p:cNvSpPr>
            <a:spLocks noGrp="1"/>
          </p:cNvSpPr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925" b="1">
                <a:solidFill>
                  <a:srgbClr val="FFFFFF"/>
                </a:solidFill>
              </a:defRPr>
            </a:pPr>
            <a:r>
              <a:rPr lang="lt-LT" sz="2000" i="1" dirty="0">
                <a:solidFill>
                  <a:srgbClr val="FFFFFF"/>
                </a:solidFill>
              </a:rPr>
              <a:t>Mokslas, bendrystė ir technologijos</a:t>
            </a:r>
            <a:endParaRPr sz="2000" i="1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CE710D-0F9B-549A-2855-DFB04F5F5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51064" y="5637657"/>
            <a:ext cx="1175967" cy="1220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CBDC6E-CE6E-237E-F6D8-328B1A43951B}"/>
              </a:ext>
            </a:extLst>
          </p:cNvPr>
          <p:cNvSpPr txBox="1"/>
          <p:nvPr/>
        </p:nvSpPr>
        <p:spPr>
          <a:xfrm>
            <a:off x="393192" y="530352"/>
            <a:ext cx="83393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>
                <a:solidFill>
                  <a:schemeClr val="accent4">
                    <a:lumMod val="50000"/>
                  </a:schemeClr>
                </a:solidFill>
              </a:rPr>
              <a:t>FTC</a:t>
            </a:r>
            <a:r>
              <a:rPr lang="en-US" sz="4000" b="1" i="1" dirty="0"/>
              <a:t> </a:t>
            </a:r>
            <a:r>
              <a:rPr lang="en-US" sz="4800" b="1" i="1" dirty="0">
                <a:solidFill>
                  <a:schemeClr val="accent4">
                    <a:lumMod val="50000"/>
                  </a:schemeClr>
                </a:solidFill>
              </a:rPr>
              <a:t>Robot Games </a:t>
            </a:r>
            <a:r>
              <a:rPr lang="en-US" sz="4000" dirty="0" err="1">
                <a:solidFill>
                  <a:schemeClr val="accent4">
                    <a:lumMod val="50000"/>
                  </a:schemeClr>
                </a:solidFill>
              </a:rPr>
              <a:t>ir</a:t>
            </a:r>
            <a:endParaRPr lang="en-US" sz="4000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4800" b="1" i="1" dirty="0">
                <a:solidFill>
                  <a:schemeClr val="accent4">
                    <a:lumMod val="50000"/>
                  </a:schemeClr>
                </a:solidFill>
              </a:rPr>
              <a:t>LT </a:t>
            </a:r>
            <a:r>
              <a:rPr lang="lt-LT" sz="4800" b="1" i="1" dirty="0">
                <a:solidFill>
                  <a:schemeClr val="accent4">
                    <a:lumMod val="50000"/>
                  </a:schemeClr>
                </a:solidFill>
              </a:rPr>
              <a:t>čempionato</a:t>
            </a:r>
            <a:r>
              <a:rPr lang="en-US" sz="4800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4000" i="1" dirty="0" err="1">
                <a:solidFill>
                  <a:schemeClr val="accent4">
                    <a:lumMod val="50000"/>
                  </a:schemeClr>
                </a:solidFill>
              </a:rPr>
              <a:t>sezonas</a:t>
            </a:r>
            <a:endParaRPr lang="he-IL" sz="4000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5F8441-C76B-4DBC-9B88-A395E8F4D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0"/>
            <a:ext cx="5260848" cy="348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8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8732A3-F690-495D-95F7-C06568EBC97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B3B"/>
                </a:solidFill>
              </a:defRPr>
            </a:pP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LITUANICA</a:t>
            </a:r>
            <a:r>
              <a:rPr lang="en-US" sz="32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X </a:t>
            </a:r>
            <a:r>
              <a:rPr lang="en-US" sz="3200" i="1" dirty="0">
                <a:solidFill>
                  <a:schemeClr val="accent4">
                    <a:lumMod val="50000"/>
                  </a:schemeClr>
                </a:solidFill>
              </a:rPr>
              <a:t>FTC </a:t>
            </a: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renginių tvarkaraštis</a:t>
            </a:r>
            <a:r>
              <a:rPr lang="en-US" sz="3200" i="1" dirty="0">
                <a:solidFill>
                  <a:schemeClr val="accent4">
                    <a:lumMod val="50000"/>
                  </a:schemeClr>
                </a:solidFill>
              </a:rPr>
              <a:t> 2026 -2027</a:t>
            </a:r>
            <a:endParaRPr sz="3200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D87726-C1F5-4EF3-9A48-C715FDD01C44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A97C2-8BCF-4E33-AB82-F790F06C473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LITUANICA X  /  ROBOTICS FORCE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67136-CB11-4C2A-96B9-EDBC67CA2793}"/>
              </a:ext>
            </a:extLst>
          </p:cNvPr>
          <p:cNvSpPr>
            <a:spLocks noGrp="1"/>
          </p:cNvSpPr>
          <p:nvPr/>
        </p:nvSpPr>
        <p:spPr>
          <a:xfrm>
            <a:off x="682256" y="1629645"/>
            <a:ext cx="7424928" cy="3166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550" b="1">
                <a:solidFill>
                  <a:srgbClr val="071B3B"/>
                </a:solidFill>
              </a:defRPr>
            </a:pPr>
            <a:r>
              <a:rPr lang="en-US" sz="2550" dirty="0">
                <a:solidFill>
                  <a:schemeClr val="accent4">
                    <a:lumMod val="50000"/>
                  </a:schemeClr>
                </a:solidFill>
              </a:rPr>
              <a:t>09.12 – KICK-OFF </a:t>
            </a:r>
            <a:endParaRPr lang="lt-LT" sz="255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defRPr sz="2550" b="1">
                <a:solidFill>
                  <a:srgbClr val="071B3B"/>
                </a:solidFill>
              </a:defRPr>
            </a:pPr>
            <a:r>
              <a:rPr lang="en-US" sz="2550" dirty="0">
                <a:solidFill>
                  <a:schemeClr val="accent4">
                    <a:lumMod val="50000"/>
                  </a:schemeClr>
                </a:solidFill>
              </a:rPr>
              <a:t>10.17 – FTC </a:t>
            </a:r>
            <a:r>
              <a:rPr lang="en-US" sz="2550" dirty="0" err="1">
                <a:solidFill>
                  <a:schemeClr val="accent4">
                    <a:lumMod val="50000"/>
                  </a:schemeClr>
                </a:solidFill>
              </a:rPr>
              <a:t>treniruotė</a:t>
            </a:r>
            <a:r>
              <a:rPr lang="en-US" sz="2550" dirty="0">
                <a:solidFill>
                  <a:schemeClr val="accent4">
                    <a:lumMod val="50000"/>
                  </a:schemeClr>
                </a:solidFill>
              </a:rPr>
              <a:t>*</a:t>
            </a:r>
            <a:endParaRPr lang="lt-LT" sz="255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defRPr sz="2550" b="1">
                <a:solidFill>
                  <a:srgbClr val="071B3B"/>
                </a:solidFill>
              </a:defRPr>
            </a:pPr>
            <a:r>
              <a:rPr lang="en-US" sz="2550" dirty="0">
                <a:solidFill>
                  <a:schemeClr val="accent2">
                    <a:lumMod val="50000"/>
                  </a:schemeClr>
                </a:solidFill>
              </a:rPr>
              <a:t>11.14 – ROBOT GAMES 1</a:t>
            </a:r>
            <a:endParaRPr lang="lt-LT" sz="255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2550" b="1">
                <a:solidFill>
                  <a:srgbClr val="071B3B"/>
                </a:solidFill>
              </a:defRPr>
            </a:pPr>
            <a:r>
              <a:rPr lang="en-US" sz="2550" dirty="0">
                <a:solidFill>
                  <a:schemeClr val="accent4">
                    <a:lumMod val="50000"/>
                  </a:schemeClr>
                </a:solidFill>
              </a:rPr>
              <a:t>12.12 – FTC </a:t>
            </a:r>
            <a:r>
              <a:rPr lang="en-US" sz="2550" dirty="0" err="1">
                <a:solidFill>
                  <a:schemeClr val="accent4">
                    <a:lumMod val="50000"/>
                  </a:schemeClr>
                </a:solidFill>
              </a:rPr>
              <a:t>treniruotė</a:t>
            </a:r>
            <a:r>
              <a:rPr lang="en-US" sz="2550" dirty="0">
                <a:solidFill>
                  <a:schemeClr val="accent4">
                    <a:lumMod val="50000"/>
                  </a:schemeClr>
                </a:solidFill>
              </a:rPr>
              <a:t>*</a:t>
            </a:r>
            <a:endParaRPr lang="lt-LT" sz="255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defRPr sz="2550" b="1">
                <a:solidFill>
                  <a:srgbClr val="071B3B"/>
                </a:solidFill>
              </a:defRPr>
            </a:pPr>
            <a:r>
              <a:rPr lang="en-US" sz="2550" dirty="0">
                <a:solidFill>
                  <a:schemeClr val="accent2">
                    <a:lumMod val="50000"/>
                  </a:schemeClr>
                </a:solidFill>
              </a:rPr>
              <a:t>01.23 – ROBOT GAMES 2</a:t>
            </a:r>
            <a:endParaRPr lang="lt-LT" sz="255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2550" b="1">
                <a:solidFill>
                  <a:srgbClr val="071B3B"/>
                </a:solidFill>
              </a:defRPr>
            </a:pPr>
            <a:r>
              <a:rPr lang="en-US" sz="2550" dirty="0">
                <a:solidFill>
                  <a:schemeClr val="accent4">
                    <a:lumMod val="50000"/>
                  </a:schemeClr>
                </a:solidFill>
              </a:rPr>
              <a:t>02.27 – FTC </a:t>
            </a:r>
            <a:r>
              <a:rPr lang="en-US" sz="2550" dirty="0" err="1">
                <a:solidFill>
                  <a:schemeClr val="accent4">
                    <a:lumMod val="50000"/>
                  </a:schemeClr>
                </a:solidFill>
              </a:rPr>
              <a:t>treniruotė</a:t>
            </a:r>
            <a:r>
              <a:rPr lang="en-US" sz="2550" dirty="0">
                <a:solidFill>
                  <a:schemeClr val="accent4">
                    <a:lumMod val="50000"/>
                  </a:schemeClr>
                </a:solidFill>
              </a:rPr>
              <a:t>*</a:t>
            </a:r>
            <a:endParaRPr lang="lt-LT" sz="255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defRPr sz="2550" b="1">
                <a:solidFill>
                  <a:srgbClr val="071B3B"/>
                </a:solidFill>
              </a:defRPr>
            </a:pPr>
            <a:r>
              <a:rPr lang="en-US" sz="2550" dirty="0">
                <a:solidFill>
                  <a:schemeClr val="accent2">
                    <a:lumMod val="50000"/>
                  </a:schemeClr>
                </a:solidFill>
              </a:rPr>
              <a:t>03.13-14 – FTC LT </a:t>
            </a:r>
            <a:r>
              <a:rPr lang="en-US" sz="2550" dirty="0" err="1">
                <a:solidFill>
                  <a:schemeClr val="accent2">
                    <a:lumMod val="50000"/>
                  </a:schemeClr>
                </a:solidFill>
              </a:rPr>
              <a:t>čempionatas</a:t>
            </a:r>
            <a:endParaRPr sz="255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7F633C-9819-475C-8B4C-0E0386908A81}"/>
              </a:ext>
            </a:extLst>
          </p:cNvPr>
          <p:cNvSpPr>
            <a:spLocks noGrp="1"/>
          </p:cNvSpPr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</a:rPr>
              <a:t>Many entry points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794CF5-4495-90FA-3D8F-32831A570614}"/>
              </a:ext>
            </a:extLst>
          </p:cNvPr>
          <p:cNvSpPr txBox="1"/>
          <p:nvPr/>
        </p:nvSpPr>
        <p:spPr>
          <a:xfrm>
            <a:off x="682256" y="5248000"/>
            <a:ext cx="10823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chemeClr val="accent4">
                    <a:lumMod val="50000"/>
                  </a:schemeClr>
                </a:solidFill>
              </a:rPr>
              <a:t>* FTC </a:t>
            </a:r>
            <a:r>
              <a:rPr lang="lt-LT" sz="1400" b="1" i="1" dirty="0">
                <a:solidFill>
                  <a:schemeClr val="accent4">
                    <a:lumMod val="50000"/>
                  </a:schemeClr>
                </a:solidFill>
              </a:rPr>
              <a:t>t</a:t>
            </a:r>
            <a:r>
              <a:rPr lang="en-US" sz="1400" b="1" i="1" dirty="0" err="1">
                <a:solidFill>
                  <a:schemeClr val="accent4">
                    <a:lumMod val="50000"/>
                  </a:schemeClr>
                </a:solidFill>
              </a:rPr>
              <a:t>reniruot</a:t>
            </a:r>
            <a:r>
              <a:rPr lang="lt-LT" sz="1400" b="1" i="1" dirty="0">
                <a:solidFill>
                  <a:schemeClr val="accent4">
                    <a:lumMod val="50000"/>
                  </a:schemeClr>
                </a:solidFill>
              </a:rPr>
              <a:t>ė </a:t>
            </a:r>
            <a:r>
              <a:rPr lang="lt-LT" sz="1400" i="1" dirty="0">
                <a:solidFill>
                  <a:schemeClr val="accent4">
                    <a:lumMod val="50000"/>
                  </a:schemeClr>
                </a:solidFill>
              </a:rPr>
              <a:t>– tai TECHIN dovanojama galimybė FTC komandoms pasitreniruoti oficialiame varžybų lauke. LTX teisėjai treniruotėse neteisėjaus</a:t>
            </a:r>
            <a:endParaRPr lang="en-US" sz="1400" i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1400" i="1" dirty="0">
                <a:solidFill>
                  <a:schemeClr val="accent4">
                    <a:lumMod val="50000"/>
                  </a:schemeClr>
                </a:solidFill>
              </a:rPr>
              <a:t>** Spal</a:t>
            </a:r>
            <a:r>
              <a:rPr lang="lt-LT" sz="1400" i="1" dirty="0">
                <a:solidFill>
                  <a:schemeClr val="accent4">
                    <a:lumMod val="50000"/>
                  </a:schemeClr>
                </a:solidFill>
              </a:rPr>
              <a:t>į planuojamas </a:t>
            </a:r>
            <a:r>
              <a:rPr lang="lt-LT" sz="1400" b="1" i="1" dirty="0">
                <a:solidFill>
                  <a:schemeClr val="accent4">
                    <a:lumMod val="50000"/>
                  </a:schemeClr>
                </a:solidFill>
              </a:rPr>
              <a:t>FTC taisyklių aptarimo </a:t>
            </a:r>
            <a:r>
              <a:rPr lang="lt-LT" sz="1400" b="1" i="1" dirty="0" err="1">
                <a:solidFill>
                  <a:schemeClr val="accent4">
                    <a:lumMod val="50000"/>
                  </a:schemeClr>
                </a:solidFill>
              </a:rPr>
              <a:t>on</a:t>
            </a:r>
            <a:r>
              <a:rPr lang="lt-LT" sz="1400" b="1" i="1" dirty="0">
                <a:solidFill>
                  <a:schemeClr val="accent4">
                    <a:lumMod val="50000"/>
                  </a:schemeClr>
                </a:solidFill>
              </a:rPr>
              <a:t>-line skambutis </a:t>
            </a:r>
            <a:r>
              <a:rPr lang="lt-LT" sz="1400" i="1" dirty="0">
                <a:solidFill>
                  <a:schemeClr val="accent4">
                    <a:lumMod val="50000"/>
                  </a:schemeClr>
                </a:solidFill>
              </a:rPr>
              <a:t>bei </a:t>
            </a:r>
            <a:r>
              <a:rPr lang="lt-LT" sz="1400" b="1" i="1" dirty="0">
                <a:solidFill>
                  <a:schemeClr val="accent4">
                    <a:lumMod val="50000"/>
                  </a:schemeClr>
                </a:solidFill>
              </a:rPr>
              <a:t>paskaita</a:t>
            </a:r>
            <a:r>
              <a:rPr lang="lt-LT" sz="1400" i="1" dirty="0">
                <a:solidFill>
                  <a:schemeClr val="accent4">
                    <a:lumMod val="50000"/>
                  </a:schemeClr>
                </a:solidFill>
              </a:rPr>
              <a:t> apie </a:t>
            </a:r>
            <a:r>
              <a:rPr lang="lt-LT" sz="1400" i="1" dirty="0" err="1">
                <a:solidFill>
                  <a:schemeClr val="accent4">
                    <a:lumMod val="50000"/>
                  </a:schemeClr>
                </a:solidFill>
              </a:rPr>
              <a:t>sponsorių</a:t>
            </a:r>
            <a:r>
              <a:rPr lang="lt-LT" sz="1400" i="1" dirty="0">
                <a:solidFill>
                  <a:schemeClr val="accent4">
                    <a:lumMod val="50000"/>
                  </a:schemeClr>
                </a:solidFill>
              </a:rPr>
              <a:t> paieškas ir išlaikymą</a:t>
            </a:r>
            <a:endParaRPr lang="he-IL" sz="1400" i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58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A63B7-8516-3FC8-0893-B1DE7766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634AF2-E653-140F-2232-58BF36D23019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B3B"/>
                </a:solidFill>
              </a:defRPr>
            </a:pP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LITUANICA</a:t>
            </a:r>
            <a:r>
              <a:rPr lang="en-US" sz="32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X - </a:t>
            </a:r>
            <a:r>
              <a:rPr lang="en-US" sz="3200" i="1" dirty="0">
                <a:solidFill>
                  <a:schemeClr val="accent4">
                    <a:lumMod val="50000"/>
                  </a:schemeClr>
                </a:solidFill>
              </a:rPr>
              <a:t>FTC </a:t>
            </a:r>
            <a:r>
              <a:rPr lang="lt-LT" sz="3200" i="1" dirty="0" err="1">
                <a:solidFill>
                  <a:schemeClr val="accent4">
                    <a:lumMod val="50000"/>
                  </a:schemeClr>
                </a:solidFill>
              </a:rPr>
              <a:t>Robot</a:t>
            </a: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sz="3200" i="1" dirty="0" err="1">
                <a:solidFill>
                  <a:schemeClr val="accent4">
                    <a:lumMod val="50000"/>
                  </a:schemeClr>
                </a:solidFill>
              </a:rPr>
              <a:t>Games</a:t>
            </a: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endParaRPr sz="3200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B297A-4338-BDC1-F1C8-6A85AC350C06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C16C3-3947-2438-25C1-DACE23DF763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LITUANICA X  /  ROBOTICS FORCE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BB37778-3BA1-A36F-68D2-DBE45ED90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611078-9B6F-2E88-4416-CBF887265BB6}"/>
              </a:ext>
            </a:extLst>
          </p:cNvPr>
          <p:cNvSpPr>
            <a:spLocks noGrp="1"/>
          </p:cNvSpPr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</a:rPr>
              <a:t>Many entry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BED45-3598-D208-70E6-5F317E4E45A8}"/>
              </a:ext>
            </a:extLst>
          </p:cNvPr>
          <p:cNvSpPr txBox="1"/>
          <p:nvPr/>
        </p:nvSpPr>
        <p:spPr>
          <a:xfrm>
            <a:off x="559538" y="1638300"/>
            <a:ext cx="105847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Renginiai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vyks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b="1" dirty="0" err="1">
                <a:solidFill>
                  <a:schemeClr val="accent4">
                    <a:lumMod val="50000"/>
                  </a:schemeClr>
                </a:solidFill>
              </a:rPr>
              <a:t>TECHIN‘e</a:t>
            </a:r>
            <a:endParaRPr lang="lt-LT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PREMIER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ir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PRO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lygos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PREMIER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Robot Games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–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dalyvau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ti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be atrankos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gali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visos komandos praėjusiais metais buvusios PREMIER lygos sezono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suvesti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nėje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+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teis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ėjų (Leono,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Nojaus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, Sigito ir Ramunės) sprendimu kelios atrinktos komandos. Papildomam aplikavimui siųsti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videl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roboto atliekančio lauke užduotį 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emailu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: </a:t>
            </a:r>
            <a:r>
              <a:rPr lang="lt-LT" b="1" i="1" dirty="0" err="1">
                <a:solidFill>
                  <a:schemeClr val="accent4">
                    <a:lumMod val="50000"/>
                  </a:schemeClr>
                </a:solidFill>
                <a:hlinkClick r:id="rId4"/>
              </a:rPr>
              <a:t>FTC.lietuva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  <a:hlinkClick r:id="rId4"/>
              </a:rPr>
              <a:t>@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  <a:hlinkClick r:id="rId4"/>
              </a:rPr>
              <a:t>gmail.com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Robotai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turi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atitikti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oficialius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 FTC 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reikalavimus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negali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 b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ū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ti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E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dubotai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lt-LT" b="1" i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he-I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2C58DE-FCE9-2BC1-812F-569F8E86C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733320"/>
            <a:ext cx="3015390" cy="249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6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FB716-989F-CD37-530A-4394F06A4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27C09A-FECA-D8FF-10BC-43EF9DBF8B9A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B3B"/>
                </a:solidFill>
              </a:defRPr>
            </a:pP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LITUANICA</a:t>
            </a:r>
            <a:r>
              <a:rPr lang="en-US" sz="32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X - </a:t>
            </a:r>
            <a:r>
              <a:rPr lang="en-US" sz="3200" i="1" dirty="0">
                <a:solidFill>
                  <a:schemeClr val="accent4">
                    <a:lumMod val="50000"/>
                  </a:schemeClr>
                </a:solidFill>
              </a:rPr>
              <a:t>FTC </a:t>
            </a:r>
            <a:r>
              <a:rPr lang="lt-LT" sz="3200" i="1" dirty="0" err="1">
                <a:solidFill>
                  <a:schemeClr val="accent4">
                    <a:lumMod val="50000"/>
                  </a:schemeClr>
                </a:solidFill>
              </a:rPr>
              <a:t>Robot</a:t>
            </a: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sz="3200" i="1" dirty="0" err="1">
                <a:solidFill>
                  <a:schemeClr val="accent4">
                    <a:lumMod val="50000"/>
                  </a:schemeClr>
                </a:solidFill>
              </a:rPr>
              <a:t>Games</a:t>
            </a:r>
            <a:r>
              <a:rPr lang="lt-LT" sz="32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endParaRPr sz="3200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89FD2C-C2F5-D11A-A4FF-04768DA35C20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D06C1C-F288-3AAB-B395-F89A6E344B8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LITUANICA X  /  ROBOTICS FORCE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532B89-ACFB-314F-298A-B7B29AF94506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6"/>
                </a:solidFill>
              </a:defRPr>
            </a:pPr>
            <a:r>
              <a:rPr sz="825" b="1" dirty="0">
                <a:solidFill>
                  <a:srgbClr val="607086"/>
                </a:solidFill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D47B2F-0E14-A412-B19A-BD3DDA1AF4E8}"/>
              </a:ext>
            </a:extLst>
          </p:cNvPr>
          <p:cNvSpPr>
            <a:spLocks noGrp="1"/>
          </p:cNvSpPr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</a:rPr>
              <a:t>Many entry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F4BAF0-70D7-DB83-9E3E-6D932C0FF733}"/>
              </a:ext>
            </a:extLst>
          </p:cNvPr>
          <p:cNvSpPr txBox="1"/>
          <p:nvPr/>
        </p:nvSpPr>
        <p:spPr>
          <a:xfrm>
            <a:off x="484632" y="1439358"/>
            <a:ext cx="10584712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PREMIER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ir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PRO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lygose nebus sezono bendrų suvestinių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sz="800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PREMIER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ir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PRO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lygose kiekviena komanda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privalės dedikuoti bent po 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1 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savanor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į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Robot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Games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metu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sz="800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PRO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lygoje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Robot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Games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metu  mentoriai turi būti pasiruošę teisėjauti jei to paprašys renginio organizatoriai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b="1" i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FTC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renginių koordinatoriai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– </a:t>
            </a:r>
            <a:r>
              <a:rPr lang="lt-LT" b="1" i="1" dirty="0">
                <a:solidFill>
                  <a:schemeClr val="accent2">
                    <a:lumMod val="75000"/>
                  </a:schemeClr>
                </a:solidFill>
              </a:rPr>
              <a:t>Leonas ir Ramunė Č.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sz="800" b="1" i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PREMIER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lygo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 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Head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R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eferee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–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Nojus </a:t>
            </a:r>
          </a:p>
          <a:p>
            <a:endParaRPr lang="en-US" sz="800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PREMIER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lygo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 </a:t>
            </a:r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Technical Advisor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–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Matas</a:t>
            </a:r>
            <a:endParaRPr lang="lt-LT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sz="8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Teisėjai -  </a:t>
            </a:r>
            <a:r>
              <a:rPr lang="lt-LT" b="1" i="1" dirty="0">
                <a:solidFill>
                  <a:schemeClr val="accent2">
                    <a:lumMod val="75000"/>
                  </a:schemeClr>
                </a:solidFill>
              </a:rPr>
              <a:t>praėjusių metų komanda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prie kurios prisijungė </a:t>
            </a:r>
            <a:r>
              <a:rPr lang="lt-LT" b="1" i="1" dirty="0">
                <a:solidFill>
                  <a:schemeClr val="accent2">
                    <a:lumMod val="75000"/>
                  </a:schemeClr>
                </a:solidFill>
              </a:rPr>
              <a:t>Matas, Adomas, Saulius</a:t>
            </a:r>
            <a:endParaRPr lang="en-US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Už FTC laukų logistiką atsakingas </a:t>
            </a:r>
            <a:r>
              <a:rPr lang="lt-LT" b="1" i="1" dirty="0">
                <a:solidFill>
                  <a:schemeClr val="accent2">
                    <a:lumMod val="75000"/>
                  </a:schemeClr>
                </a:solidFill>
              </a:rPr>
              <a:t>Darius 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(padedant Vyteniui bei TECHIN)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sz="800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FTC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b="1" i="1" dirty="0" err="1">
                <a:solidFill>
                  <a:schemeClr val="accent4">
                    <a:lumMod val="50000"/>
                  </a:schemeClr>
                </a:solidFill>
              </a:rPr>
              <a:t>Queueing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– </a:t>
            </a:r>
            <a:r>
              <a:rPr lang="lt-LT" b="1" i="1" dirty="0">
                <a:solidFill>
                  <a:schemeClr val="accent2">
                    <a:lumMod val="75000"/>
                  </a:schemeClr>
                </a:solidFill>
              </a:rPr>
              <a:t>Vytenis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sz="800" b="1" i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FTC renginių 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PIT </a:t>
            </a:r>
            <a:r>
              <a:rPr lang="lt-LT" b="1" i="1" dirty="0" err="1">
                <a:solidFill>
                  <a:schemeClr val="accent4">
                    <a:lumMod val="50000"/>
                  </a:schemeClr>
                </a:solidFill>
              </a:rPr>
              <a:t>Admin</a:t>
            </a:r>
            <a:r>
              <a:rPr lang="lt-LT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– </a:t>
            </a:r>
            <a:r>
              <a:rPr lang="lt-LT" b="1" i="1" dirty="0">
                <a:solidFill>
                  <a:schemeClr val="accent2">
                    <a:lumMod val="75000"/>
                  </a:schemeClr>
                </a:solidFill>
              </a:rPr>
              <a:t>Raminta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sz="8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FTC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Robot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lt-LT" dirty="0" err="1">
                <a:solidFill>
                  <a:schemeClr val="accent4">
                    <a:lumMod val="50000"/>
                  </a:schemeClr>
                </a:solidFill>
              </a:rPr>
              <a:t>Games</a:t>
            </a:r>
            <a:r>
              <a:rPr lang="lt-LT" dirty="0">
                <a:solidFill>
                  <a:schemeClr val="accent4">
                    <a:lumMod val="50000"/>
                  </a:schemeClr>
                </a:solidFill>
              </a:rPr>
              <a:t> šeimininkai - </a:t>
            </a:r>
            <a:r>
              <a:rPr lang="lt-LT" b="1" i="1" dirty="0">
                <a:solidFill>
                  <a:schemeClr val="accent2">
                    <a:lumMod val="75000"/>
                  </a:schemeClr>
                </a:solidFill>
              </a:rPr>
              <a:t>TECHIN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lt-LT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5AE80D-50FA-D324-658E-80457524B3A4}"/>
              </a:ext>
            </a:extLst>
          </p:cNvPr>
          <p:cNvSpPr>
            <a:spLocks noGrp="1"/>
          </p:cNvSpPr>
          <p:nvPr/>
        </p:nvSpPr>
        <p:spPr>
          <a:xfrm>
            <a:off x="0" y="5779008"/>
            <a:ext cx="12192000" cy="1078992"/>
          </a:xfrm>
          <a:prstGeom prst="rect">
            <a:avLst/>
          </a:prstGeom>
          <a:solidFill>
            <a:srgbClr val="071B3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0C38CC-3B1B-339E-5922-451CBD4D97C4}"/>
              </a:ext>
            </a:extLst>
          </p:cNvPr>
          <p:cNvSpPr>
            <a:spLocks noGrp="1"/>
          </p:cNvSpPr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925" b="1">
                <a:solidFill>
                  <a:srgbClr val="FFFFFF"/>
                </a:solidFill>
              </a:defRPr>
            </a:pPr>
            <a:r>
              <a:rPr lang="lt-LT" sz="2000" i="1" dirty="0">
                <a:solidFill>
                  <a:srgbClr val="FFFFFF"/>
                </a:solidFill>
              </a:rPr>
              <a:t>Mokslas, bendrystė ir technologijos</a:t>
            </a:r>
            <a:endParaRPr sz="2000" i="1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A349B8-08DE-5C46-EE88-28506D298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4344" y="5779008"/>
            <a:ext cx="1049719" cy="10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9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B1A2B-6F2B-2E51-9E31-6418598F3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69536E-9A39-ACDB-1403-DE22C247BDEF}"/>
              </a:ext>
            </a:extLst>
          </p:cNvPr>
          <p:cNvSpPr>
            <a:spLocks noGrp="1"/>
          </p:cNvSpPr>
          <p:nvPr/>
        </p:nvSpPr>
        <p:spPr>
          <a:xfrm>
            <a:off x="0" y="-3257"/>
            <a:ext cx="12192000" cy="6858000"/>
          </a:xfrm>
          <a:prstGeom prst="rect">
            <a:avLst/>
          </a:prstGeom>
          <a:solidFill>
            <a:srgbClr val="DDEA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6670C2-142E-E704-AF9D-2C900B69CDEB}"/>
              </a:ext>
            </a:extLst>
          </p:cNvPr>
          <p:cNvSpPr>
            <a:spLocks noGrp="1"/>
          </p:cNvSpPr>
          <p:nvPr/>
        </p:nvSpPr>
        <p:spPr>
          <a:xfrm>
            <a:off x="0" y="5634400"/>
            <a:ext cx="12192000" cy="1223600"/>
          </a:xfrm>
          <a:prstGeom prst="rect">
            <a:avLst/>
          </a:prstGeom>
          <a:solidFill>
            <a:srgbClr val="071B3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08EE93-CAB1-6C16-3370-0E2717E68FF8}"/>
              </a:ext>
            </a:extLst>
          </p:cNvPr>
          <p:cNvSpPr>
            <a:spLocks noGrp="1"/>
          </p:cNvSpPr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925" b="1">
                <a:solidFill>
                  <a:srgbClr val="FFFFFF"/>
                </a:solidFill>
              </a:defRPr>
            </a:pPr>
            <a:r>
              <a:rPr lang="lt-LT" sz="2000" i="1" dirty="0">
                <a:solidFill>
                  <a:srgbClr val="FFFFFF"/>
                </a:solidFill>
              </a:rPr>
              <a:t>Mokslas, bendrystė ir technologijos</a:t>
            </a:r>
            <a:endParaRPr sz="2000" i="1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39FD22-A073-23EC-3B9A-F95329553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6385" y="5634400"/>
            <a:ext cx="1175967" cy="1220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6FB6C3-94F3-F7D6-A581-A291B92424A4}"/>
              </a:ext>
            </a:extLst>
          </p:cNvPr>
          <p:cNvSpPr txBox="1"/>
          <p:nvPr/>
        </p:nvSpPr>
        <p:spPr>
          <a:xfrm>
            <a:off x="484632" y="594360"/>
            <a:ext cx="8339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>
                <a:solidFill>
                  <a:schemeClr val="accent4">
                    <a:lumMod val="50000"/>
                  </a:schemeClr>
                </a:solidFill>
              </a:rPr>
              <a:t>F</a:t>
            </a:r>
            <a:r>
              <a:rPr lang="lt-LT" sz="4800" b="1" i="1" dirty="0">
                <a:solidFill>
                  <a:schemeClr val="accent4">
                    <a:lumMod val="50000"/>
                  </a:schemeClr>
                </a:solidFill>
              </a:rPr>
              <a:t>LL</a:t>
            </a: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4000" i="1" dirty="0" err="1">
                <a:solidFill>
                  <a:schemeClr val="accent4">
                    <a:lumMod val="50000"/>
                  </a:schemeClr>
                </a:solidFill>
              </a:rPr>
              <a:t>sezonas</a:t>
            </a:r>
            <a:endParaRPr lang="he-IL" sz="4000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553B9-C413-3A45-5700-A4E6D6EAB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30" y="1"/>
            <a:ext cx="5484069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33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02C2DD-017D-A736-3598-87347EBB2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86" y="1488944"/>
            <a:ext cx="5260859" cy="3733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7A9BB2-2083-586A-2E38-9EA116A7B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296" y="1488944"/>
            <a:ext cx="5263907" cy="3761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DF4DF-5855-B2D4-69AF-A2BD87D98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6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40" y="78638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„FLL Challenge“ </a:t>
            </a:r>
            <a:r>
              <a:rPr lang="en-US" sz="2200" b="1" dirty="0" err="1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palyginimas</a:t>
            </a:r>
            <a:r>
              <a:rPr lang="en-US" sz="2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 „Future Edition 3-8“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1472184"/>
          <a:ext cx="11247120" cy="5039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Kategorija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FLL Challenge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Edition 3-8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Komandos narių vaidmenys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Oficialių vaidmenų nėra — komandos neformaliai pasiskirsto roboto konstravimo, programavimo ir projekto darbus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Paleistas robotas veikia autonomiškai (rungtynių metu jo nevaldoma)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Keturi oficialūs žaidėjų vaidmenys: vairuotojas „Driver“ (valdo belaidžiu pultu), operatorius „Operator“ (naudoja mechaninį įrankį), technikas „Technician“ (naudoja užprogramuotą robotizuotą įrankį), specialistas „Specialist“ (valdo komandos įrenginį / robotizuotus žaidimo elementus)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Įranga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LEGO SPIKE Prime / SPIKE Essential arba Mindstorms EV3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Laidiniai varikliai ir jutikliai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Iš nešiojamojo kompiuterio į centrinį bloką įkeliamas iš anksto parašytas kodas; robotas veikia pagal užprogramuotą seką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LEGO Education „Computer Science &amp; AI“ rinkinys (11+ versija)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Belaidžiai jutikliai, varikliai ir valdymo pultas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Motorizuoti žaidimo modeliai su integruota elektronika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„Connection Cards“ kortelės sujungia įrangą be programavimo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Rungtynių formatas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Prie stalo — viena komanda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Visiškai autonominis 2:30 min. bandymas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Vertinama individualiai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„Pusiau bendradarbiaujantis“ formatas: dvi komandos vienu metu žaidžia tame pačiame žaidimo lauke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2:30 min. rungtynės vyksta realiuoju laiku nuotoliniu valdymu, o ne vien autonomiškai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3448934-613E-6D31-6555-D932CB99A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74432" y="-23241"/>
            <a:ext cx="1560368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40" y="160934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„FLL Explore“ </a:t>
            </a:r>
            <a:r>
              <a:rPr lang="en-US" sz="2200" b="1" dirty="0" err="1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palyginimas</a:t>
            </a:r>
            <a:r>
              <a:rPr lang="en-US" sz="2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 „Future Edition“ 5–7 m. grupei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2249424"/>
          <a:ext cx="11247120" cy="3576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Kategorija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FLL Explore  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Edition 5-7 m. (priešm.–2 kl.)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Amžiaus / klasių grupė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Maždaug 6–10 m. amžius / 2–4 klasės (kai kuriuose šaltiniuose nurodoma iki 6 klasės, priklauso nuo šalies)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Susiaurinta iki 5–7 m. amžiaus / priešmokyklinės–2 klasės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Buvusi „Discover“ grupė (4–6 m., DUPLO pagrindu)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nutraukta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Nevaržybinis / pristatomasis formatas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Komandos sukuria motorizuotą modelį ir pristato teisėjams plakatą ar žurnalą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Tiesioginio komandų varžymosi vertinimo nėra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Patvirtintų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varžybinių rungtynių formato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nepaskelbta</a:t>
                      </a:r>
                      <a:endParaRPr lang="en-US" sz="1600" dirty="0">
                        <a:solidFill>
                          <a:srgbClr val="22222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paskelbta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2026 m.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spalį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Įranga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LEGO SPIKE Essential arba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WeDo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2.0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LEGO Education „Computer Science &amp; AI“ rinkinys 5+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Vienas rinkinys komandai</a:t>
                      </a:r>
                      <a:endParaRPr lang="en-US" sz="1600" dirty="0"/>
                    </a:p>
                    <a:p>
                      <a:pPr marL="152400" indent="-1524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Belaidžiai komponentai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9A847D2-596D-4AA0-A201-7791CC8D7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81328"/>
            <a:ext cx="969264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1F5263"/>
                </a:solidFill>
                <a:latin typeface="Aptos Display"/>
              </a:defRPr>
            </a:pPr>
            <a:r>
              <a:rPr dirty="0"/>
              <a:t>Kas </a:t>
            </a:r>
            <a:r>
              <a:rPr dirty="0" err="1"/>
              <a:t>vyks</a:t>
            </a:r>
            <a:r>
              <a:rPr dirty="0"/>
              <a:t> </a:t>
            </a:r>
            <a:r>
              <a:rPr dirty="0" err="1"/>
              <a:t>kitą</a:t>
            </a:r>
            <a:r>
              <a:rPr dirty="0"/>
              <a:t> </a:t>
            </a:r>
            <a:r>
              <a:rPr dirty="0" err="1"/>
              <a:t>sezoną</a:t>
            </a:r>
            <a:r>
              <a:rPr dirty="0"/>
              <a:t> – 2027/28?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02536"/>
            <a:ext cx="2148840" cy="365760"/>
          </a:xfrm>
          <a:prstGeom prst="rect">
            <a:avLst/>
          </a:prstGeom>
          <a:solidFill>
            <a:srgbClr val="1F5263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defRPr sz="1320" b="1">
                <a:solidFill>
                  <a:srgbClr val="FFFFFF"/>
                </a:solidFill>
                <a:latin typeface="Aptos"/>
              </a:defRPr>
            </a:pPr>
            <a:r>
              <a:rPr sz="1600"/>
              <a:t>Kategorija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6040" y="2002536"/>
            <a:ext cx="4617720" cy="365760"/>
          </a:xfrm>
          <a:prstGeom prst="rect">
            <a:avLst/>
          </a:prstGeom>
          <a:solidFill>
            <a:srgbClr val="1F5263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defRPr sz="1320" b="1">
                <a:solidFill>
                  <a:srgbClr val="FFFFFF"/>
                </a:solidFill>
                <a:latin typeface="Aptos"/>
              </a:defRPr>
            </a:pPr>
            <a:r>
              <a:rPr sz="1600"/>
              <a:t>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2002536"/>
            <a:ext cx="4511040" cy="365760"/>
          </a:xfrm>
          <a:prstGeom prst="rect">
            <a:avLst/>
          </a:prstGeom>
          <a:solidFill>
            <a:srgbClr val="1F5263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defRPr sz="1320" b="1">
                <a:solidFill>
                  <a:srgbClr val="FFFFFF"/>
                </a:solidFill>
                <a:latin typeface="Aptos"/>
              </a:defRPr>
            </a:pPr>
            <a:r>
              <a:rPr sz="1600"/>
              <a:t>LEGO Education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68296"/>
            <a:ext cx="2148840" cy="557784"/>
          </a:xfrm>
          <a:prstGeom prst="rect">
            <a:avLst/>
          </a:prstGeom>
          <a:solidFill>
            <a:srgbClr val="E7EEF0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defRPr sz="1160" b="1">
                <a:solidFill>
                  <a:srgbClr val="222222"/>
                </a:solidFill>
                <a:latin typeface="Aptos"/>
              </a:defRPr>
            </a:pPr>
            <a:r>
              <a:rPr sz="1600"/>
              <a:t>2027/28 programos startas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2368296"/>
            <a:ext cx="461772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spcAft>
                <a:spcPts val="150"/>
              </a:spcAft>
              <a:defRPr sz="1060">
                <a:solidFill>
                  <a:srgbClr val="222222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Pradės</a:t>
            </a:r>
            <a:r>
              <a:rPr sz="1600" dirty="0"/>
              <a:t> </a:t>
            </a:r>
            <a:r>
              <a:rPr sz="1600" dirty="0" err="1"/>
              <a:t>naują</a:t>
            </a:r>
            <a:r>
              <a:rPr sz="1600" dirty="0"/>
              <a:t> K–8 </a:t>
            </a:r>
            <a:r>
              <a:rPr sz="1600" dirty="0" err="1"/>
              <a:t>klasių</a:t>
            </a:r>
            <a:r>
              <a:rPr sz="1600" dirty="0"/>
              <a:t> </a:t>
            </a:r>
            <a:r>
              <a:rPr sz="1600" dirty="0" err="1"/>
              <a:t>robotikos</a:t>
            </a:r>
            <a:r>
              <a:rPr sz="1600" dirty="0"/>
              <a:t> / STEM </a:t>
            </a:r>
            <a:r>
              <a:rPr sz="1600" dirty="0" err="1"/>
              <a:t>programą</a:t>
            </a:r>
            <a:r>
              <a:rPr sz="1600" dirty="0"/>
              <a:t>, </a:t>
            </a:r>
            <a:r>
              <a:rPr sz="1600" dirty="0" err="1"/>
              <a:t>nepriklausomą</a:t>
            </a:r>
            <a:r>
              <a:rPr sz="1600" dirty="0"/>
              <a:t> </a:t>
            </a:r>
            <a:r>
              <a:rPr sz="1600" dirty="0" err="1"/>
              <a:t>nuo</a:t>
            </a:r>
            <a:r>
              <a:rPr sz="1600" dirty="0"/>
              <a:t> LEGO Education.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368296"/>
            <a:ext cx="451104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spcAft>
                <a:spcPts val="150"/>
              </a:spcAft>
              <a:defRPr sz="1060">
                <a:solidFill>
                  <a:srgbClr val="222222"/>
                </a:solidFill>
                <a:latin typeface="Aptos"/>
              </a:defRPr>
            </a:pPr>
            <a:r>
              <a:rPr sz="1600"/>
              <a:t>• 2027 m. rugpjūtį pradės naują „LEGO® League“, nepriklausomą nuo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44368"/>
            <a:ext cx="2148840" cy="877824"/>
          </a:xfrm>
          <a:prstGeom prst="rect">
            <a:avLst/>
          </a:prstGeom>
          <a:solidFill>
            <a:srgbClr val="E7EEF0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defRPr sz="1160" b="1">
                <a:solidFill>
                  <a:srgbClr val="222222"/>
                </a:solidFill>
                <a:latin typeface="Aptos"/>
              </a:defRPr>
            </a:pPr>
            <a:r>
              <a:rPr sz="1600"/>
              <a:t>Įranga ir pereinamasis laikotarpis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944368"/>
            <a:ext cx="461772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spcAft>
                <a:spcPts val="150"/>
              </a:spcAft>
              <a:defRPr sz="1060">
                <a:solidFill>
                  <a:srgbClr val="222222"/>
                </a:solidFill>
                <a:latin typeface="Aptos"/>
              </a:defRPr>
            </a:pPr>
            <a:r>
              <a:rPr sz="1600" dirty="0"/>
              <a:t>• SPIKE Prime </a:t>
            </a:r>
            <a:r>
              <a:rPr sz="1600" dirty="0" err="1"/>
              <a:t>ir</a:t>
            </a:r>
            <a:r>
              <a:rPr sz="1600" dirty="0"/>
              <a:t> SPIKE Essential bus </a:t>
            </a:r>
            <a:r>
              <a:rPr lang="en-US" sz="1600" dirty="0" err="1"/>
              <a:t>leid</a:t>
            </a:r>
            <a:r>
              <a:rPr lang="lt-LT" sz="1600" dirty="0"/>
              <a:t>ž</a:t>
            </a:r>
            <a:r>
              <a:rPr lang="en-US" sz="1600" dirty="0" err="1"/>
              <a:t>iama</a:t>
            </a:r>
            <a:r>
              <a:rPr sz="1600" dirty="0"/>
              <a:t> </a:t>
            </a:r>
            <a:r>
              <a:rPr sz="1600" dirty="0" err="1"/>
              <a:t>iki</a:t>
            </a:r>
            <a:r>
              <a:rPr sz="1600" dirty="0"/>
              <a:t> 2028/29 </a:t>
            </a:r>
            <a:r>
              <a:rPr sz="1600" dirty="0" err="1"/>
              <a:t>sezono</a:t>
            </a:r>
            <a:r>
              <a:rPr sz="1600" dirty="0"/>
              <a:t> – </a:t>
            </a:r>
            <a:r>
              <a:rPr sz="1600" dirty="0" err="1"/>
              <a:t>pereinamasis</a:t>
            </a:r>
            <a:r>
              <a:rPr sz="1600" dirty="0"/>
              <a:t> </a:t>
            </a:r>
            <a:r>
              <a:rPr sz="1600" dirty="0" err="1"/>
              <a:t>laikotarpis</a:t>
            </a:r>
            <a:r>
              <a:rPr sz="1600" dirty="0"/>
              <a:t> </a:t>
            </a:r>
            <a:r>
              <a:rPr sz="1600" dirty="0" err="1"/>
              <a:t>esamoms</a:t>
            </a:r>
            <a:r>
              <a:rPr sz="1600" dirty="0"/>
              <a:t> </a:t>
            </a:r>
            <a:r>
              <a:rPr sz="1600" dirty="0" err="1"/>
              <a:t>komandoms</a:t>
            </a:r>
            <a:r>
              <a:rPr sz="1600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944368"/>
            <a:ext cx="451104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spcAft>
                <a:spcPts val="150"/>
              </a:spcAft>
              <a:defRPr sz="1060">
                <a:solidFill>
                  <a:srgbClr val="222222"/>
                </a:solidFill>
                <a:latin typeface="Aptos"/>
              </a:defRPr>
            </a:pPr>
            <a:r>
              <a:rPr sz="1600"/>
              <a:t>• 2027/28 – du dalyvavimo keliai:</a:t>
            </a:r>
          </a:p>
          <a:p>
            <a:pPr algn="l">
              <a:spcAft>
                <a:spcPts val="150"/>
              </a:spcAft>
              <a:defRPr sz="1060">
                <a:solidFill>
                  <a:srgbClr val="222222"/>
                </a:solidFill>
                <a:latin typeface="Aptos"/>
              </a:defRPr>
            </a:pPr>
            <a:r>
              <a:rPr sz="1600"/>
              <a:t>– SPIKE / ankstesnė įranga</a:t>
            </a:r>
          </a:p>
          <a:p>
            <a:pPr algn="l">
              <a:spcAft>
                <a:spcPts val="150"/>
              </a:spcAft>
              <a:defRPr sz="1060">
                <a:solidFill>
                  <a:srgbClr val="222222"/>
                </a:solidFill>
                <a:latin typeface="Aptos"/>
              </a:defRPr>
            </a:pPr>
            <a:r>
              <a:rPr sz="1600"/>
              <a:t>– nauja „Computer Science &amp; AI“ įranga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79"/>
            <a:ext cx="2148840" cy="877824"/>
          </a:xfrm>
          <a:prstGeom prst="rect">
            <a:avLst/>
          </a:prstGeom>
          <a:solidFill>
            <a:srgbClr val="E7EEF0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defRPr sz="1160" b="1">
                <a:solidFill>
                  <a:srgbClr val="222222"/>
                </a:solidFill>
                <a:latin typeface="Aptos"/>
              </a:defRPr>
            </a:pPr>
            <a:r>
              <a:rPr sz="1600"/>
              <a:t>Ilgalaikė kryptis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3840479"/>
            <a:ext cx="461772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spcAft>
                <a:spcPts val="150"/>
              </a:spcAft>
              <a:defRPr sz="1060">
                <a:solidFill>
                  <a:srgbClr val="222222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Ilgainiui</a:t>
            </a:r>
            <a:r>
              <a:rPr sz="1600" dirty="0"/>
              <a:t> </a:t>
            </a:r>
            <a:r>
              <a:rPr sz="1600" dirty="0" err="1"/>
              <a:t>naujoji</a:t>
            </a:r>
            <a:r>
              <a:rPr sz="1600" dirty="0"/>
              <a:t> K–8 </a:t>
            </a:r>
            <a:r>
              <a:rPr sz="1600" dirty="0" err="1"/>
              <a:t>programa</a:t>
            </a:r>
            <a:r>
              <a:rPr sz="1600" dirty="0"/>
              <a:t> </a:t>
            </a:r>
            <a:r>
              <a:rPr lang="lt-LT" sz="1600" dirty="0"/>
              <a:t>bus </a:t>
            </a:r>
            <a:r>
              <a:rPr sz="1600" dirty="0" err="1"/>
              <a:t>susieta</a:t>
            </a:r>
            <a:r>
              <a:rPr sz="1600" dirty="0"/>
              <a:t> </a:t>
            </a:r>
            <a:r>
              <a:rPr sz="1600" dirty="0" err="1"/>
              <a:t>su</a:t>
            </a:r>
            <a:r>
              <a:rPr sz="1600" dirty="0"/>
              <a:t> </a:t>
            </a:r>
            <a:r>
              <a:rPr sz="1600" dirty="0" err="1"/>
              <a:t>technologijomis</a:t>
            </a:r>
            <a:r>
              <a:rPr sz="1600" dirty="0"/>
              <a:t>, </a:t>
            </a:r>
            <a:r>
              <a:rPr sz="1600" dirty="0" err="1"/>
              <a:t>naudojamomis</a:t>
            </a:r>
            <a:r>
              <a:rPr sz="1600" dirty="0"/>
              <a:t> </a:t>
            </a:r>
            <a:r>
              <a:rPr sz="1600" dirty="0" err="1"/>
              <a:t>aukštesnio</a:t>
            </a:r>
            <a:r>
              <a:rPr sz="1600" dirty="0"/>
              <a:t> </a:t>
            </a:r>
            <a:r>
              <a:rPr sz="1600" dirty="0" err="1"/>
              <a:t>lygio</a:t>
            </a:r>
            <a:r>
              <a:rPr sz="1600" dirty="0"/>
              <a:t> FIRST </a:t>
            </a:r>
            <a:r>
              <a:rPr sz="1600" dirty="0" err="1"/>
              <a:t>programose</a:t>
            </a:r>
            <a:r>
              <a:rPr sz="1600"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3840479"/>
            <a:ext cx="451104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3C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0292" rIns="73152" bIns="32004" rtlCol="0" anchor="t"/>
          <a:lstStyle/>
          <a:p>
            <a:pPr algn="l">
              <a:spcAft>
                <a:spcPts val="150"/>
              </a:spcAft>
              <a:defRPr sz="1060">
                <a:solidFill>
                  <a:srgbClr val="222222"/>
                </a:solidFill>
                <a:latin typeface="Aptos"/>
              </a:defRPr>
            </a:pPr>
            <a:r>
              <a:rPr sz="1600"/>
              <a:t>• Nuo 2028/29 „LEGO League“ planuojama naudoti tik „Computer Science &amp; AI“ įrangą.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DACB90-5296-8E40-EE7B-E052354B0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" y="1334849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lt-LT" sz="2500" b="1" dirty="0">
                <a:solidFill>
                  <a:srgbClr val="1F53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FLL r</a:t>
            </a:r>
            <a:r>
              <a:rPr lang="en-US" sz="2500" b="1" dirty="0" err="1">
                <a:solidFill>
                  <a:srgbClr val="1F53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egioninių</a:t>
            </a:r>
            <a:r>
              <a:rPr lang="en-US" sz="2500" b="1" dirty="0">
                <a:solidFill>
                  <a:srgbClr val="1F53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renginių datos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9496" y="1865201"/>
            <a:ext cx="6903720" cy="438912"/>
          </a:xfrm>
          <a:prstGeom prst="rect">
            <a:avLst/>
          </a:prstGeom>
          <a:solidFill>
            <a:srgbClr val="1F5362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Regionas</a:t>
            </a:r>
            <a:endParaRPr lang="en-US" sz="1600" b="1" dirty="0"/>
          </a:p>
        </p:txBody>
      </p:sp>
      <p:sp>
        <p:nvSpPr>
          <p:cNvPr id="6" name="Text 3"/>
          <p:cNvSpPr/>
          <p:nvPr/>
        </p:nvSpPr>
        <p:spPr>
          <a:xfrm>
            <a:off x="7443216" y="1865201"/>
            <a:ext cx="4187952" cy="438912"/>
          </a:xfrm>
          <a:prstGeom prst="rect">
            <a:avLst/>
          </a:prstGeom>
          <a:solidFill>
            <a:srgbClr val="1F5362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539496" y="2304113"/>
            <a:ext cx="6903720" cy="566928"/>
          </a:xfrm>
          <a:prstGeom prst="rect">
            <a:avLst/>
          </a:prstGeom>
          <a:solidFill>
            <a:srgbClr val="E8F1F4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Vilnius</a:t>
            </a:r>
            <a:r>
              <a:rPr lang="lt-LT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TECHIN		</a:t>
            </a:r>
            <a:endParaRPr lang="en-US" sz="1600" b="1" dirty="0"/>
          </a:p>
        </p:txBody>
      </p:sp>
      <p:sp>
        <p:nvSpPr>
          <p:cNvPr id="8" name="Text 5"/>
          <p:cNvSpPr/>
          <p:nvPr/>
        </p:nvSpPr>
        <p:spPr>
          <a:xfrm>
            <a:off x="7443216" y="2304113"/>
            <a:ext cx="4187952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sausio 23 d.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539496" y="2871041"/>
            <a:ext cx="6903720" cy="566928"/>
          </a:xfrm>
          <a:prstGeom prst="rect">
            <a:avLst/>
          </a:prstGeom>
          <a:solidFill>
            <a:srgbClr val="E8F1F4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Kaunas</a:t>
            </a:r>
            <a:r>
              <a:rPr lang="lt-LT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Mokslo sala</a:t>
            </a:r>
            <a:endParaRPr lang="en-US" sz="1600" b="1" dirty="0"/>
          </a:p>
        </p:txBody>
      </p:sp>
      <p:sp>
        <p:nvSpPr>
          <p:cNvPr id="10" name="Text 7"/>
          <p:cNvSpPr/>
          <p:nvPr/>
        </p:nvSpPr>
        <p:spPr>
          <a:xfrm>
            <a:off x="7443216" y="2871041"/>
            <a:ext cx="4187952" cy="566928"/>
          </a:xfrm>
          <a:prstGeom prst="rect">
            <a:avLst/>
          </a:prstGeom>
          <a:solidFill>
            <a:srgbClr val="F5F8F9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sausio 27 d.</a:t>
            </a:r>
            <a:endParaRPr lang="en-US" sz="1600" b="1" dirty="0"/>
          </a:p>
        </p:txBody>
      </p:sp>
      <p:sp>
        <p:nvSpPr>
          <p:cNvPr id="11" name="Text 8"/>
          <p:cNvSpPr/>
          <p:nvPr/>
        </p:nvSpPr>
        <p:spPr>
          <a:xfrm>
            <a:off x="539496" y="3437969"/>
            <a:ext cx="6903720" cy="566928"/>
          </a:xfrm>
          <a:prstGeom prst="rect">
            <a:avLst/>
          </a:prstGeom>
          <a:solidFill>
            <a:srgbClr val="E8F1F4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r>
              <a:rPr lang="en-US" sz="1600" b="1" dirty="0" err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Klaipėda</a:t>
            </a:r>
            <a:endParaRPr lang="en-US" sz="1600" b="1" dirty="0"/>
          </a:p>
        </p:txBody>
      </p:sp>
      <p:sp>
        <p:nvSpPr>
          <p:cNvPr id="12" name="Text 9"/>
          <p:cNvSpPr/>
          <p:nvPr/>
        </p:nvSpPr>
        <p:spPr>
          <a:xfrm>
            <a:off x="7443216" y="3437969"/>
            <a:ext cx="4187952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rgbClr val="5B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derinama</a:t>
            </a:r>
            <a:endParaRPr lang="en-US" sz="1600" b="1" dirty="0"/>
          </a:p>
        </p:txBody>
      </p:sp>
      <p:sp>
        <p:nvSpPr>
          <p:cNvPr id="13" name="Text 10"/>
          <p:cNvSpPr/>
          <p:nvPr/>
        </p:nvSpPr>
        <p:spPr>
          <a:xfrm>
            <a:off x="539496" y="4004897"/>
            <a:ext cx="6903720" cy="566928"/>
          </a:xfrm>
          <a:prstGeom prst="rect">
            <a:avLst/>
          </a:prstGeom>
          <a:solidFill>
            <a:srgbClr val="E8F1F4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Šiauliai</a:t>
            </a:r>
            <a:r>
              <a:rPr lang="lt-LT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Šiauliai TECH</a:t>
            </a:r>
            <a:endParaRPr lang="en-US" sz="1600" b="1" dirty="0"/>
          </a:p>
        </p:txBody>
      </p:sp>
      <p:sp>
        <p:nvSpPr>
          <p:cNvPr id="14" name="Text 11"/>
          <p:cNvSpPr/>
          <p:nvPr/>
        </p:nvSpPr>
        <p:spPr>
          <a:xfrm>
            <a:off x="7443216" y="4004897"/>
            <a:ext cx="4187952" cy="566928"/>
          </a:xfrm>
          <a:prstGeom prst="rect">
            <a:avLst/>
          </a:prstGeom>
          <a:solidFill>
            <a:srgbClr val="F5F8F9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sausio 23 d.</a:t>
            </a:r>
            <a:endParaRPr lang="en-US" sz="1600" b="1" dirty="0"/>
          </a:p>
        </p:txBody>
      </p:sp>
      <p:sp>
        <p:nvSpPr>
          <p:cNvPr id="15" name="Text 12"/>
          <p:cNvSpPr/>
          <p:nvPr/>
        </p:nvSpPr>
        <p:spPr>
          <a:xfrm>
            <a:off x="539496" y="4571825"/>
            <a:ext cx="6903720" cy="566928"/>
          </a:xfrm>
          <a:prstGeom prst="rect">
            <a:avLst/>
          </a:prstGeom>
          <a:solidFill>
            <a:srgbClr val="E8F1F4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Panevėžys</a:t>
            </a:r>
            <a:r>
              <a:rPr lang="lt-LT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lt-LT" sz="1600" b="1" dirty="0" err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RoboLabas</a:t>
            </a:r>
            <a:endParaRPr lang="en-US" sz="1600" b="1" dirty="0"/>
          </a:p>
        </p:txBody>
      </p:sp>
      <p:sp>
        <p:nvSpPr>
          <p:cNvPr id="16" name="Text 13"/>
          <p:cNvSpPr/>
          <p:nvPr/>
        </p:nvSpPr>
        <p:spPr>
          <a:xfrm>
            <a:off x="7443216" y="4571825"/>
            <a:ext cx="4187952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rgbClr val="5B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derinama</a:t>
            </a:r>
            <a:endParaRPr lang="en-US" sz="1600" b="1" dirty="0"/>
          </a:p>
        </p:txBody>
      </p:sp>
      <p:sp>
        <p:nvSpPr>
          <p:cNvPr id="17" name="Text 14"/>
          <p:cNvSpPr/>
          <p:nvPr/>
        </p:nvSpPr>
        <p:spPr>
          <a:xfrm>
            <a:off x="539496" y="5138753"/>
            <a:ext cx="6903720" cy="566928"/>
          </a:xfrm>
          <a:prstGeom prst="rect">
            <a:avLst/>
          </a:prstGeom>
          <a:solidFill>
            <a:srgbClr val="E8F1F4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Visaginas</a:t>
            </a:r>
            <a:endParaRPr lang="en-US" sz="1600" b="1" dirty="0"/>
          </a:p>
        </p:txBody>
      </p:sp>
      <p:sp>
        <p:nvSpPr>
          <p:cNvPr id="18" name="Text 15"/>
          <p:cNvSpPr/>
          <p:nvPr/>
        </p:nvSpPr>
        <p:spPr>
          <a:xfrm>
            <a:off x="7443216" y="5138753"/>
            <a:ext cx="4187952" cy="566928"/>
          </a:xfrm>
          <a:prstGeom prst="rect">
            <a:avLst/>
          </a:prstGeom>
          <a:solidFill>
            <a:srgbClr val="F5F8F9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sausio 22 d.</a:t>
            </a:r>
            <a:endParaRPr lang="en-US" sz="1600" b="1" dirty="0"/>
          </a:p>
        </p:txBody>
      </p:sp>
      <p:sp>
        <p:nvSpPr>
          <p:cNvPr id="19" name="Text 16"/>
          <p:cNvSpPr/>
          <p:nvPr/>
        </p:nvSpPr>
        <p:spPr>
          <a:xfrm>
            <a:off x="539496" y="5705681"/>
            <a:ext cx="6903720" cy="685800"/>
          </a:xfrm>
          <a:prstGeom prst="rect">
            <a:avLst/>
          </a:prstGeom>
          <a:solidFill>
            <a:srgbClr val="173F4C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ptos" pitchFamily="34" charset="0"/>
              </a:rPr>
              <a:t>Nacionalinis </a:t>
            </a:r>
            <a:r>
              <a:rPr lang="en-US" sz="1600" b="1" dirty="0" err="1">
                <a:solidFill>
                  <a:srgbClr val="FFFFFF"/>
                </a:solidFill>
                <a:latin typeface="Aptos" pitchFamily="34" charset="0"/>
              </a:rPr>
              <a:t>finalas</a:t>
            </a:r>
            <a:r>
              <a:rPr lang="lt-LT" sz="1600" b="1" dirty="0">
                <a:solidFill>
                  <a:srgbClr val="FFFFFF"/>
                </a:solidFill>
                <a:latin typeface="Aptos" pitchFamily="34" charset="0"/>
              </a:rPr>
              <a:t>, Kaunas, Mokslo sala</a:t>
            </a:r>
            <a:endParaRPr lang="en-US" sz="1600" b="1" dirty="0">
              <a:solidFill>
                <a:srgbClr val="FFFFFF"/>
              </a:solidFill>
              <a:latin typeface="Aptos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443216" y="5705681"/>
            <a:ext cx="4187952" cy="685800"/>
          </a:xfrm>
          <a:prstGeom prst="rect">
            <a:avLst/>
          </a:prstGeom>
          <a:solidFill>
            <a:srgbClr val="173F4C"/>
          </a:solidFill>
          <a:ln>
            <a:solidFill>
              <a:srgbClr val="BFC8C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vasario 27 d.</a:t>
            </a:r>
            <a:endParaRPr lang="en-US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31AC5A-B16B-FD4A-56C4-D8B63BBD4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29880" y="117935"/>
            <a:ext cx="1560368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E9A4-1512-B971-1F75-BE55165E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14D29B4-5A96-C0A0-ABFB-5310AA7FC8E7}"/>
              </a:ext>
            </a:extLst>
          </p:cNvPr>
          <p:cNvSpPr>
            <a:spLocks noGrp="1"/>
          </p:cNvSpPr>
          <p:nvPr/>
        </p:nvSpPr>
        <p:spPr>
          <a:xfrm>
            <a:off x="0" y="-3257"/>
            <a:ext cx="12192000" cy="6858000"/>
          </a:xfrm>
          <a:prstGeom prst="rect">
            <a:avLst/>
          </a:prstGeom>
          <a:solidFill>
            <a:srgbClr val="DDEA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D434B-62F3-6134-A0A9-4F73DBE06DEF}"/>
              </a:ext>
            </a:extLst>
          </p:cNvPr>
          <p:cNvSpPr>
            <a:spLocks noGrp="1"/>
          </p:cNvSpPr>
          <p:nvPr/>
        </p:nvSpPr>
        <p:spPr>
          <a:xfrm>
            <a:off x="0" y="5634400"/>
            <a:ext cx="12192000" cy="1223599"/>
          </a:xfrm>
          <a:prstGeom prst="rect">
            <a:avLst/>
          </a:prstGeom>
          <a:solidFill>
            <a:srgbClr val="071B3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24071F-48EB-8320-1AD6-1F3B139339E0}"/>
              </a:ext>
            </a:extLst>
          </p:cNvPr>
          <p:cNvSpPr>
            <a:spLocks noGrp="1"/>
          </p:cNvSpPr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925" b="1">
                <a:solidFill>
                  <a:srgbClr val="FFFFFF"/>
                </a:solidFill>
              </a:defRPr>
            </a:pPr>
            <a:r>
              <a:rPr lang="lt-LT" sz="2000" i="1" dirty="0">
                <a:solidFill>
                  <a:srgbClr val="FFFFFF"/>
                </a:solidFill>
              </a:rPr>
              <a:t>Mokslas, bendrystė ir technologijos</a:t>
            </a:r>
            <a:endParaRPr sz="2000" i="1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35900F-8217-BE0B-D34B-14F82444B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11298" y="5634400"/>
            <a:ext cx="1175967" cy="1220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E0EE56-4CFE-1E5E-520E-5D74094C83C5}"/>
              </a:ext>
            </a:extLst>
          </p:cNvPr>
          <p:cNvSpPr txBox="1"/>
          <p:nvPr/>
        </p:nvSpPr>
        <p:spPr>
          <a:xfrm>
            <a:off x="420624" y="621792"/>
            <a:ext cx="8339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4800" b="1" i="1" dirty="0">
                <a:solidFill>
                  <a:schemeClr val="accent4">
                    <a:lumMod val="50000"/>
                  </a:schemeClr>
                </a:solidFill>
              </a:rPr>
              <a:t>Dronų </a:t>
            </a:r>
            <a:r>
              <a:rPr lang="lt-LT" sz="4000" i="1" dirty="0">
                <a:solidFill>
                  <a:schemeClr val="accent4">
                    <a:lumMod val="50000"/>
                  </a:schemeClr>
                </a:solidFill>
              </a:rPr>
              <a:t>lygos</a:t>
            </a: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4000" i="1" dirty="0" err="1">
                <a:solidFill>
                  <a:schemeClr val="accent4">
                    <a:lumMod val="50000"/>
                  </a:schemeClr>
                </a:solidFill>
              </a:rPr>
              <a:t>sezonas</a:t>
            </a:r>
            <a:endParaRPr lang="he-IL" sz="4000" i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886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4D83-987F-3729-835F-8196F611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11">
            <a:extLst>
              <a:ext uri="{FF2B5EF4-FFF2-40B4-BE49-F238E27FC236}">
                <a16:creationId xmlns:a16="http://schemas.microsoft.com/office/drawing/2014/main" id="{1834E1FF-82AA-5C88-D450-B5A36B9869B6}"/>
              </a:ext>
            </a:extLst>
          </p:cNvPr>
          <p:cNvSpPr/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LIETUVOS ADC varžybų tvarkaraštis</a:t>
            </a:r>
            <a:endParaRPr/>
          </a:p>
        </p:txBody>
      </p:sp>
      <p:sp>
        <p:nvSpPr>
          <p:cNvPr id="10" name="Google Shape;126;p11">
            <a:extLst>
              <a:ext uri="{FF2B5EF4-FFF2-40B4-BE49-F238E27FC236}">
                <a16:creationId xmlns:a16="http://schemas.microsoft.com/office/drawing/2014/main" id="{BEB9765C-AC09-F40E-0346-6F386F1E0EC2}"/>
              </a:ext>
            </a:extLst>
          </p:cNvPr>
          <p:cNvSpPr/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7;p11">
            <a:extLst>
              <a:ext uri="{FF2B5EF4-FFF2-40B4-BE49-F238E27FC236}">
                <a16:creationId xmlns:a16="http://schemas.microsoft.com/office/drawing/2014/main" id="{B90306CD-C2A4-F57B-ED56-36827A35F85F}"/>
              </a:ext>
            </a:extLst>
          </p:cNvPr>
          <p:cNvSpPr/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>
                <a:solidFill>
                  <a:srgbClr val="607086"/>
                </a:solidFill>
                <a:latin typeface="Calibri"/>
                <a:ea typeface="Calibri"/>
                <a:cs typeface="Calibri"/>
                <a:sym typeface="Calibri"/>
              </a:rPr>
              <a:t>LITUANICA X  /  ROBOTICS FORCE</a:t>
            </a:r>
            <a:endParaRPr/>
          </a:p>
        </p:txBody>
      </p:sp>
      <p:sp>
        <p:nvSpPr>
          <p:cNvPr id="16" name="Google Shape;128;p11">
            <a:extLst>
              <a:ext uri="{FF2B5EF4-FFF2-40B4-BE49-F238E27FC236}">
                <a16:creationId xmlns:a16="http://schemas.microsoft.com/office/drawing/2014/main" id="{3DD3755D-3070-EBA4-9A76-093A60368B67}"/>
              </a:ext>
            </a:extLst>
          </p:cNvPr>
          <p:cNvSpPr/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>
                <a:solidFill>
                  <a:srgbClr val="60708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8" name="Google Shape;129;p11">
            <a:extLst>
              <a:ext uri="{FF2B5EF4-FFF2-40B4-BE49-F238E27FC236}">
                <a16:creationId xmlns:a16="http://schemas.microsoft.com/office/drawing/2014/main" id="{C4B239EA-782E-D9EF-DA5E-35E0D59021A9}"/>
              </a:ext>
            </a:extLst>
          </p:cNvPr>
          <p:cNvSpPr/>
          <p:nvPr/>
        </p:nvSpPr>
        <p:spPr>
          <a:xfrm>
            <a:off x="682256" y="1629645"/>
            <a:ext cx="9326400" cy="3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7F340D"/>
                </a:solidFill>
                <a:latin typeface="Calibri"/>
                <a:ea typeface="Calibri"/>
                <a:cs typeface="Calibri"/>
                <a:sym typeface="Calibri"/>
              </a:rPr>
              <a:t>11.14 – DRONE GAMES #1 Vilnius kartu su ROBOT GAMES#1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7F340D"/>
                </a:solidFill>
                <a:latin typeface="Calibri"/>
                <a:ea typeface="Calibri"/>
                <a:cs typeface="Calibri"/>
                <a:sym typeface="Calibri"/>
              </a:rPr>
              <a:t>02-27 - DRONE GAMES #2 Kaunas kartu su FLL finalu</a:t>
            </a:r>
            <a:endParaRPr sz="255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7F340D"/>
                </a:solidFill>
                <a:latin typeface="Calibri"/>
                <a:ea typeface="Calibri"/>
                <a:cs typeface="Calibri"/>
                <a:sym typeface="Calibri"/>
              </a:rPr>
              <a:t>04.10 – Lietuvos ADC FINALAS Vilnius</a:t>
            </a:r>
            <a:endParaRPr sz="2550" b="1">
              <a:solidFill>
                <a:srgbClr val="7F340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130;p11">
            <a:extLst>
              <a:ext uri="{FF2B5EF4-FFF2-40B4-BE49-F238E27FC236}">
                <a16:creationId xmlns:a16="http://schemas.microsoft.com/office/drawing/2014/main" id="{7C2BB5FA-82BC-F26F-AC8E-1B2D9B5168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31;p11">
            <a:extLst>
              <a:ext uri="{FF2B5EF4-FFF2-40B4-BE49-F238E27FC236}">
                <a16:creationId xmlns:a16="http://schemas.microsoft.com/office/drawing/2014/main" id="{3E8E2864-FBF4-FEA4-31B3-EE606C414626}"/>
              </a:ext>
            </a:extLst>
          </p:cNvPr>
          <p:cNvSpPr/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entry points</a:t>
            </a:r>
            <a:endParaRPr/>
          </a:p>
        </p:txBody>
      </p:sp>
      <p:sp>
        <p:nvSpPr>
          <p:cNvPr id="25" name="Google Shape;132;p11">
            <a:extLst>
              <a:ext uri="{FF2B5EF4-FFF2-40B4-BE49-F238E27FC236}">
                <a16:creationId xmlns:a16="http://schemas.microsoft.com/office/drawing/2014/main" id="{6229E0DD-816B-2662-59A4-17639434C70B}"/>
              </a:ext>
            </a:extLst>
          </p:cNvPr>
          <p:cNvSpPr txBox="1"/>
          <p:nvPr/>
        </p:nvSpPr>
        <p:spPr>
          <a:xfrm>
            <a:off x="682256" y="5534025"/>
            <a:ext cx="108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9603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7FB8E-DD92-BA1D-ABDC-194A24D43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38;g3fa728247c7_0_0">
            <a:extLst>
              <a:ext uri="{FF2B5EF4-FFF2-40B4-BE49-F238E27FC236}">
                <a16:creationId xmlns:a16="http://schemas.microsoft.com/office/drawing/2014/main" id="{6FDF9536-5A07-EDB1-4862-CCA994D16E96}"/>
              </a:ext>
            </a:extLst>
          </p:cNvPr>
          <p:cNvSpPr/>
          <p:nvPr/>
        </p:nvSpPr>
        <p:spPr>
          <a:xfrm>
            <a:off x="685800" y="628650"/>
            <a:ext cx="102870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DRONE GAMES </a:t>
            </a:r>
            <a:r>
              <a:rPr lang="en-US" sz="3200" b="1" i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treniruočių</a:t>
            </a:r>
            <a:r>
              <a:rPr lang="en-US" sz="3200" b="1" i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tvarkaraštis</a:t>
            </a:r>
            <a:endParaRPr dirty="0"/>
          </a:p>
        </p:txBody>
      </p:sp>
      <p:sp>
        <p:nvSpPr>
          <p:cNvPr id="29" name="Google Shape;139;g3fa728247c7_0_0">
            <a:extLst>
              <a:ext uri="{FF2B5EF4-FFF2-40B4-BE49-F238E27FC236}">
                <a16:creationId xmlns:a16="http://schemas.microsoft.com/office/drawing/2014/main" id="{A6BFF30E-AC69-136B-35D8-B76D3B5FE592}"/>
              </a:ext>
            </a:extLst>
          </p:cNvPr>
          <p:cNvSpPr/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40;g3fa728247c7_0_0">
            <a:extLst>
              <a:ext uri="{FF2B5EF4-FFF2-40B4-BE49-F238E27FC236}">
                <a16:creationId xmlns:a16="http://schemas.microsoft.com/office/drawing/2014/main" id="{D1C147E7-1403-30E1-3AC7-ACE255E4B308}"/>
              </a:ext>
            </a:extLst>
          </p:cNvPr>
          <p:cNvSpPr/>
          <p:nvPr/>
        </p:nvSpPr>
        <p:spPr>
          <a:xfrm>
            <a:off x="685800" y="6438900"/>
            <a:ext cx="29529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>
                <a:solidFill>
                  <a:srgbClr val="607086"/>
                </a:solidFill>
                <a:latin typeface="Calibri"/>
                <a:ea typeface="Calibri"/>
                <a:cs typeface="Calibri"/>
                <a:sym typeface="Calibri"/>
              </a:rPr>
              <a:t>LITUANICA X  /  ROBOTICS FORCE</a:t>
            </a:r>
            <a:endParaRPr/>
          </a:p>
        </p:txBody>
      </p:sp>
      <p:sp>
        <p:nvSpPr>
          <p:cNvPr id="35" name="Google Shape;142;g3fa728247c7_0_0">
            <a:extLst>
              <a:ext uri="{FF2B5EF4-FFF2-40B4-BE49-F238E27FC236}">
                <a16:creationId xmlns:a16="http://schemas.microsoft.com/office/drawing/2014/main" id="{E51DD934-F3BC-7FF7-874D-1E48EAD1F585}"/>
              </a:ext>
            </a:extLst>
          </p:cNvPr>
          <p:cNvSpPr/>
          <p:nvPr/>
        </p:nvSpPr>
        <p:spPr>
          <a:xfrm>
            <a:off x="682256" y="1629645"/>
            <a:ext cx="9326400" cy="3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10-24 – DRONE GAMES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treniruotė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Klaipėdoje</a:t>
            </a:r>
            <a:r>
              <a:rPr lang="lt-LT" sz="2550" b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ir </a:t>
            </a:r>
            <a:r>
              <a:rPr lang="lt-LT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Nemenčinėje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lang="lt-LT" sz="255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lt-LT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12.05 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– DRONE GAMES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treniruotė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lt-LT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Nemenčinėje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2550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12.12 – DRONE GAMES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treniruotė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Klaipėdoje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01.19 – 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DRONE GAMES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treniruotė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Klaipėdoje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lang="lt-LT" sz="255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lt-LT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01.30 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– DRONE GAMES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treniruotė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lt-LT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Nemenčinėje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03.20 – DRONE GAMES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treniruotė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Klaipėdoje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endParaRPr lang="lt-LT" sz="255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lt-LT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04.03 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– DRONE GAMES </a:t>
            </a:r>
            <a:r>
              <a:rPr lang="en-US" sz="255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treniruotė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lt-LT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Nemenčinėje</a:t>
            </a:r>
            <a:r>
              <a:rPr lang="en-US" sz="255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2550" b="1" dirty="0">
              <a:solidFill>
                <a:srgbClr val="7F340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143;g3fa728247c7_0_0">
            <a:extLst>
              <a:ext uri="{FF2B5EF4-FFF2-40B4-BE49-F238E27FC236}">
                <a16:creationId xmlns:a16="http://schemas.microsoft.com/office/drawing/2014/main" id="{4A7695EA-3B93-E49F-F2B1-F538E22BA7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44;g3fa728247c7_0_0">
            <a:extLst>
              <a:ext uri="{FF2B5EF4-FFF2-40B4-BE49-F238E27FC236}">
                <a16:creationId xmlns:a16="http://schemas.microsoft.com/office/drawing/2014/main" id="{BBF702B1-04DB-6FCA-6426-A4C56FEB491A}"/>
              </a:ext>
            </a:extLst>
          </p:cNvPr>
          <p:cNvSpPr/>
          <p:nvPr/>
        </p:nvSpPr>
        <p:spPr>
          <a:xfrm>
            <a:off x="8858250" y="4400550"/>
            <a:ext cx="2095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entry points</a:t>
            </a:r>
            <a:endParaRPr/>
          </a:p>
        </p:txBody>
      </p:sp>
      <p:sp>
        <p:nvSpPr>
          <p:cNvPr id="41" name="Google Shape;145;g3fa728247c7_0_0">
            <a:extLst>
              <a:ext uri="{FF2B5EF4-FFF2-40B4-BE49-F238E27FC236}">
                <a16:creationId xmlns:a16="http://schemas.microsoft.com/office/drawing/2014/main" id="{8E995DC1-16D1-FE0C-2CF0-CC3B3A798175}"/>
              </a:ext>
            </a:extLst>
          </p:cNvPr>
          <p:cNvSpPr txBox="1"/>
          <p:nvPr/>
        </p:nvSpPr>
        <p:spPr>
          <a:xfrm>
            <a:off x="682256" y="5534025"/>
            <a:ext cx="1082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1800"/>
              <a:buFont typeface="Arial"/>
              <a:buChar char="•"/>
            </a:pPr>
            <a:r>
              <a:rPr lang="en-US" sz="1800" b="1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DRONE GAMES treniruotė </a:t>
            </a:r>
            <a:r>
              <a:rPr lang="en-US" sz="1800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– tai galimybė ADC komandoms pasitreniruoti oficialiame varžybų lauke. ADC teisėjai treniruotėse neteisėjaus. Treniruotės vyksta skirtinguose miestuose.</a:t>
            </a:r>
            <a:endParaRPr sz="1800" i="1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6281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264C-993C-2B14-8CAC-BF29C935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51;p12">
            <a:extLst>
              <a:ext uri="{FF2B5EF4-FFF2-40B4-BE49-F238E27FC236}">
                <a16:creationId xmlns:a16="http://schemas.microsoft.com/office/drawing/2014/main" id="{BEB63809-B754-563F-150A-C8A93DFE7306}"/>
              </a:ext>
            </a:extLst>
          </p:cNvPr>
          <p:cNvSpPr/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LIETUVOS DRONE GAMES </a:t>
            </a:r>
            <a:endParaRPr sz="3200" i="1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2;p12">
            <a:extLst>
              <a:ext uri="{FF2B5EF4-FFF2-40B4-BE49-F238E27FC236}">
                <a16:creationId xmlns:a16="http://schemas.microsoft.com/office/drawing/2014/main" id="{BC0035D5-F36C-B8D9-8BBF-E58E2909CAA3}"/>
              </a:ext>
            </a:extLst>
          </p:cNvPr>
          <p:cNvSpPr/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53;p12">
            <a:extLst>
              <a:ext uri="{FF2B5EF4-FFF2-40B4-BE49-F238E27FC236}">
                <a16:creationId xmlns:a16="http://schemas.microsoft.com/office/drawing/2014/main" id="{F6192312-BB6C-4C3E-1E97-EFA49E88DA49}"/>
              </a:ext>
            </a:extLst>
          </p:cNvPr>
          <p:cNvSpPr/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>
                <a:solidFill>
                  <a:srgbClr val="607086"/>
                </a:solidFill>
                <a:latin typeface="Calibri"/>
                <a:ea typeface="Calibri"/>
                <a:cs typeface="Calibri"/>
                <a:sym typeface="Calibri"/>
              </a:rPr>
              <a:t>LITUANICA X  /  ROBOTICS FORCE</a:t>
            </a:r>
            <a:endParaRPr/>
          </a:p>
        </p:txBody>
      </p:sp>
      <p:pic>
        <p:nvPicPr>
          <p:cNvPr id="28" name="Google Shape;155;p12">
            <a:extLst>
              <a:ext uri="{FF2B5EF4-FFF2-40B4-BE49-F238E27FC236}">
                <a16:creationId xmlns:a16="http://schemas.microsoft.com/office/drawing/2014/main" id="{E8508C5A-218F-ACA4-627D-25175A5AF2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56;p12">
            <a:extLst>
              <a:ext uri="{FF2B5EF4-FFF2-40B4-BE49-F238E27FC236}">
                <a16:creationId xmlns:a16="http://schemas.microsoft.com/office/drawing/2014/main" id="{3E32F44D-06E9-C427-9D87-0371B67D0C2F}"/>
              </a:ext>
            </a:extLst>
          </p:cNvPr>
          <p:cNvSpPr/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entry points</a:t>
            </a:r>
            <a:endParaRPr/>
          </a:p>
        </p:txBody>
      </p:sp>
      <p:sp>
        <p:nvSpPr>
          <p:cNvPr id="36" name="Google Shape;157;p12">
            <a:extLst>
              <a:ext uri="{FF2B5EF4-FFF2-40B4-BE49-F238E27FC236}">
                <a16:creationId xmlns:a16="http://schemas.microsoft.com/office/drawing/2014/main" id="{CD014F27-FEE6-AD7D-4DCD-D0045A086EE3}"/>
              </a:ext>
            </a:extLst>
          </p:cNvPr>
          <p:cNvSpPr txBox="1"/>
          <p:nvPr/>
        </p:nvSpPr>
        <p:spPr>
          <a:xfrm>
            <a:off x="559538" y="1828800"/>
            <a:ext cx="10584600" cy="28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50"/>
              <a:buFont typeface="Arial"/>
              <a:buChar char="•"/>
            </a:pPr>
            <a:r>
              <a:rPr lang="en-US" sz="2550" b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DRONE GAMES #1 ir #2 renginiuose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50"/>
              <a:buFont typeface="Arial"/>
              <a:buChar char="•"/>
            </a:pPr>
            <a:r>
              <a:rPr lang="en-US" sz="2550" b="0" i="0" u="none" strike="noStrike" cap="none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skaičiuojami geriausių renginio pilotavimo ir autonomo tašk</a:t>
            </a:r>
            <a:r>
              <a:rPr lang="en-US" sz="255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ų suma</a:t>
            </a:r>
            <a:r>
              <a:rPr lang="en-US" sz="2550" b="0" i="0" u="none" strike="noStrike" cap="none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bei vedami į suvestinę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50"/>
              <a:buFont typeface="Arial"/>
              <a:buChar char="•"/>
            </a:pPr>
            <a:r>
              <a:rPr lang="en-US" sz="2550" b="0" i="0" u="none" strike="noStrike" cap="none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kiekviena komanda </a:t>
            </a:r>
            <a:r>
              <a:rPr lang="en-US" sz="2550" b="1" i="1" u="none" strike="noStrike" cap="none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privalės dedikuoti bent po 1 pilnametį savanorį </a:t>
            </a:r>
            <a:r>
              <a:rPr lang="en-US" sz="2550" b="0" i="0" u="none" strike="noStrike" cap="none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kaip renginio teisėją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50"/>
              <a:buFont typeface="Arial"/>
              <a:buChar char="•"/>
            </a:pPr>
            <a:r>
              <a:rPr lang="en-US" sz="2550" b="1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DRONE GAMES  </a:t>
            </a:r>
            <a:r>
              <a:rPr lang="en-US" sz="255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lygos </a:t>
            </a:r>
            <a:r>
              <a:rPr lang="en-US" sz="2550" b="1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Head referee </a:t>
            </a:r>
            <a:r>
              <a:rPr lang="en-US" sz="255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– Ramunė </a:t>
            </a:r>
            <a:endParaRPr sz="255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58;p12">
            <a:extLst>
              <a:ext uri="{FF2B5EF4-FFF2-40B4-BE49-F238E27FC236}">
                <a16:creationId xmlns:a16="http://schemas.microsoft.com/office/drawing/2014/main" id="{2FB64EA6-3EFF-E381-86C5-5E37DFCF6617}"/>
              </a:ext>
            </a:extLst>
          </p:cNvPr>
          <p:cNvSpPr/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Mokslas, bendrystė ir technologijos</a:t>
            </a:r>
            <a:endParaRPr sz="2000" i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5248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3F0D-3705-7E33-B62B-6D3C3FBE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4;p13">
            <a:extLst>
              <a:ext uri="{FF2B5EF4-FFF2-40B4-BE49-F238E27FC236}">
                <a16:creationId xmlns:a16="http://schemas.microsoft.com/office/drawing/2014/main" id="{FE2FA215-7626-3C63-CD32-B6175A8D515B}"/>
              </a:ext>
            </a:extLst>
          </p:cNvPr>
          <p:cNvSpPr/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LIETUVOS DRONE GAMES varžybų užduotys</a:t>
            </a:r>
            <a:endParaRPr sz="3200" i="1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65;p13">
            <a:extLst>
              <a:ext uri="{FF2B5EF4-FFF2-40B4-BE49-F238E27FC236}">
                <a16:creationId xmlns:a16="http://schemas.microsoft.com/office/drawing/2014/main" id="{FD49FFEB-6E64-CA2C-23F3-D362BB5F1DA9}"/>
              </a:ext>
            </a:extLst>
          </p:cNvPr>
          <p:cNvSpPr/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6;p13">
            <a:extLst>
              <a:ext uri="{FF2B5EF4-FFF2-40B4-BE49-F238E27FC236}">
                <a16:creationId xmlns:a16="http://schemas.microsoft.com/office/drawing/2014/main" id="{6AD52BBD-53A3-727D-4FBF-976C82E7CC35}"/>
              </a:ext>
            </a:extLst>
          </p:cNvPr>
          <p:cNvSpPr/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>
                <a:solidFill>
                  <a:srgbClr val="607086"/>
                </a:solidFill>
                <a:latin typeface="Calibri"/>
                <a:ea typeface="Calibri"/>
                <a:cs typeface="Calibri"/>
                <a:sym typeface="Calibri"/>
              </a:rPr>
              <a:t>LITUANICA X  /  ROBOTICS FORCE</a:t>
            </a:r>
            <a:endParaRPr/>
          </a:p>
        </p:txBody>
      </p:sp>
      <p:pic>
        <p:nvPicPr>
          <p:cNvPr id="11" name="Google Shape;168;p13">
            <a:extLst>
              <a:ext uri="{FF2B5EF4-FFF2-40B4-BE49-F238E27FC236}">
                <a16:creationId xmlns:a16="http://schemas.microsoft.com/office/drawing/2014/main" id="{715BF082-BA58-E4EA-C93E-939104AF78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69;p13">
            <a:extLst>
              <a:ext uri="{FF2B5EF4-FFF2-40B4-BE49-F238E27FC236}">
                <a16:creationId xmlns:a16="http://schemas.microsoft.com/office/drawing/2014/main" id="{7C692106-CFD9-83DE-F1B0-22B60445EE28}"/>
              </a:ext>
            </a:extLst>
          </p:cNvPr>
          <p:cNvSpPr/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entry points</a:t>
            </a:r>
            <a:endParaRPr/>
          </a:p>
        </p:txBody>
      </p:sp>
      <p:sp>
        <p:nvSpPr>
          <p:cNvPr id="15" name="Google Shape;170;p13">
            <a:extLst>
              <a:ext uri="{FF2B5EF4-FFF2-40B4-BE49-F238E27FC236}">
                <a16:creationId xmlns:a16="http://schemas.microsoft.com/office/drawing/2014/main" id="{E310AEE7-FCAE-4A1E-AAD7-DD1D1C58E5B4}"/>
              </a:ext>
            </a:extLst>
          </p:cNvPr>
          <p:cNvSpPr txBox="1"/>
          <p:nvPr/>
        </p:nvSpPr>
        <p:spPr>
          <a:xfrm>
            <a:off x="685800" y="1866900"/>
            <a:ext cx="46383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Paruoštos ir adaptuotos pagal RECF 2027 misiją FAST TRACK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Pilotavimas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Autonomas</a:t>
            </a:r>
            <a:endParaRPr sz="250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1;p13">
            <a:extLst>
              <a:ext uri="{FF2B5EF4-FFF2-40B4-BE49-F238E27FC236}">
                <a16:creationId xmlns:a16="http://schemas.microsoft.com/office/drawing/2014/main" id="{017F93D0-4CA0-1CE9-4D88-5E20E3261553}"/>
              </a:ext>
            </a:extLst>
          </p:cNvPr>
          <p:cNvSpPr/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Mokslas, bendrystė ir technologijos</a:t>
            </a:r>
            <a:endParaRPr sz="2000" i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172;p13">
            <a:extLst>
              <a:ext uri="{FF2B5EF4-FFF2-40B4-BE49-F238E27FC236}">
                <a16:creationId xmlns:a16="http://schemas.microsoft.com/office/drawing/2014/main" id="{D6D938C1-8C88-EF4B-011C-1BDA80C751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16098"/>
          <a:stretch/>
        </p:blipFill>
        <p:spPr>
          <a:xfrm>
            <a:off x="5324162" y="1828800"/>
            <a:ext cx="5838435" cy="4610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5525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AAA22-7083-4513-D052-C2E08BD8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8;p14">
            <a:extLst>
              <a:ext uri="{FF2B5EF4-FFF2-40B4-BE49-F238E27FC236}">
                <a16:creationId xmlns:a16="http://schemas.microsoft.com/office/drawing/2014/main" id="{95CE44BF-6D85-4115-5453-74CFF68261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9325" y="1662900"/>
            <a:ext cx="5857875" cy="45379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79;p14">
            <a:extLst>
              <a:ext uri="{FF2B5EF4-FFF2-40B4-BE49-F238E27FC236}">
                <a16:creationId xmlns:a16="http://schemas.microsoft.com/office/drawing/2014/main" id="{A09BB0A3-4C10-E94E-8CA4-1A51C7A7AFD4}"/>
              </a:ext>
            </a:extLst>
          </p:cNvPr>
          <p:cNvSpPr/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LIETUVOS ADC finalas - RECF FAST TRACK užduotis </a:t>
            </a:r>
            <a:endParaRPr sz="3200" i="1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80;p14">
            <a:extLst>
              <a:ext uri="{FF2B5EF4-FFF2-40B4-BE49-F238E27FC236}">
                <a16:creationId xmlns:a16="http://schemas.microsoft.com/office/drawing/2014/main" id="{80BA22D6-3AF0-6092-1F12-1163ACF7C5DB}"/>
              </a:ext>
            </a:extLst>
          </p:cNvPr>
          <p:cNvSpPr/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81;p14">
            <a:extLst>
              <a:ext uri="{FF2B5EF4-FFF2-40B4-BE49-F238E27FC236}">
                <a16:creationId xmlns:a16="http://schemas.microsoft.com/office/drawing/2014/main" id="{27B5E150-9D56-F59C-8EB0-2464F2D9B535}"/>
              </a:ext>
            </a:extLst>
          </p:cNvPr>
          <p:cNvSpPr/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>
                <a:solidFill>
                  <a:srgbClr val="607086"/>
                </a:solidFill>
                <a:latin typeface="Calibri"/>
                <a:ea typeface="Calibri"/>
                <a:cs typeface="Calibri"/>
                <a:sym typeface="Calibri"/>
              </a:rPr>
              <a:t>LITUANICA X  /  ROBOTICS FORCE</a:t>
            </a:r>
            <a:endParaRPr/>
          </a:p>
        </p:txBody>
      </p:sp>
      <p:pic>
        <p:nvPicPr>
          <p:cNvPr id="22" name="Google Shape;183;p14">
            <a:extLst>
              <a:ext uri="{FF2B5EF4-FFF2-40B4-BE49-F238E27FC236}">
                <a16:creationId xmlns:a16="http://schemas.microsoft.com/office/drawing/2014/main" id="{1D60F03A-20C1-4CEA-F1F8-E3A6CD9A65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4066" y="43650"/>
            <a:ext cx="1560368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84;p14">
            <a:extLst>
              <a:ext uri="{FF2B5EF4-FFF2-40B4-BE49-F238E27FC236}">
                <a16:creationId xmlns:a16="http://schemas.microsoft.com/office/drawing/2014/main" id="{F86BAA68-0854-F0E9-895C-289E931EDBD5}"/>
              </a:ext>
            </a:extLst>
          </p:cNvPr>
          <p:cNvSpPr/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entry points</a:t>
            </a:r>
            <a:endParaRPr/>
          </a:p>
        </p:txBody>
      </p:sp>
      <p:sp>
        <p:nvSpPr>
          <p:cNvPr id="26" name="Google Shape;185;p14">
            <a:extLst>
              <a:ext uri="{FF2B5EF4-FFF2-40B4-BE49-F238E27FC236}">
                <a16:creationId xmlns:a16="http://schemas.microsoft.com/office/drawing/2014/main" id="{BF50FBF6-0E8C-AAB8-7102-85CA8F344172}"/>
              </a:ext>
            </a:extLst>
          </p:cNvPr>
          <p:cNvSpPr txBox="1"/>
          <p:nvPr/>
        </p:nvSpPr>
        <p:spPr>
          <a:xfrm>
            <a:off x="685800" y="1866900"/>
            <a:ext cx="5857887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FAST TRACK užduotis turi 5 dalis: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Pilotavimas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Autonomas</a:t>
            </a:r>
            <a:endParaRPr sz="250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Komandinė rungtis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Komunikacija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Komandos žurnalas</a:t>
            </a:r>
            <a:endParaRPr/>
          </a:p>
        </p:txBody>
      </p:sp>
      <p:sp>
        <p:nvSpPr>
          <p:cNvPr id="28" name="Google Shape;186;p14">
            <a:extLst>
              <a:ext uri="{FF2B5EF4-FFF2-40B4-BE49-F238E27FC236}">
                <a16:creationId xmlns:a16="http://schemas.microsoft.com/office/drawing/2014/main" id="{175A985A-6E85-A8D6-F8F1-D61487D50F90}"/>
              </a:ext>
            </a:extLst>
          </p:cNvPr>
          <p:cNvSpPr/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Mokslas, bendrystė ir technologijos</a:t>
            </a:r>
            <a:endParaRPr sz="2000" i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617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D834D-DB97-A825-1B2E-5AF3C70C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2;p15">
            <a:extLst>
              <a:ext uri="{FF2B5EF4-FFF2-40B4-BE49-F238E27FC236}">
                <a16:creationId xmlns:a16="http://schemas.microsoft.com/office/drawing/2014/main" id="{BF89CF80-CB63-1834-B969-3A362F16C5D6}"/>
              </a:ext>
            </a:extLst>
          </p:cNvPr>
          <p:cNvSpPr/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LIETUVOS DRONE GAMES narystės ir komandų mokesčiai </a:t>
            </a:r>
            <a:endParaRPr sz="3200" i="1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3;p15">
            <a:extLst>
              <a:ext uri="{FF2B5EF4-FFF2-40B4-BE49-F238E27FC236}">
                <a16:creationId xmlns:a16="http://schemas.microsoft.com/office/drawing/2014/main" id="{000B259F-E933-7D6A-ECEA-FE2A138A5C23}"/>
              </a:ext>
            </a:extLst>
          </p:cNvPr>
          <p:cNvSpPr/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94;p15">
            <a:extLst>
              <a:ext uri="{FF2B5EF4-FFF2-40B4-BE49-F238E27FC236}">
                <a16:creationId xmlns:a16="http://schemas.microsoft.com/office/drawing/2014/main" id="{2DECB894-8636-8C04-EF1F-884BF42C3801}"/>
              </a:ext>
            </a:extLst>
          </p:cNvPr>
          <p:cNvSpPr/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>
                <a:solidFill>
                  <a:srgbClr val="607086"/>
                </a:solidFill>
                <a:latin typeface="Calibri"/>
                <a:ea typeface="Calibri"/>
                <a:cs typeface="Calibri"/>
                <a:sym typeface="Calibri"/>
              </a:rPr>
              <a:t>LITUANICA X  /  ROBOTICS FORCE</a:t>
            </a:r>
            <a:endParaRPr/>
          </a:p>
        </p:txBody>
      </p:sp>
      <p:pic>
        <p:nvPicPr>
          <p:cNvPr id="14" name="Google Shape;196;p15">
            <a:extLst>
              <a:ext uri="{FF2B5EF4-FFF2-40B4-BE49-F238E27FC236}">
                <a16:creationId xmlns:a16="http://schemas.microsoft.com/office/drawing/2014/main" id="{49444C9F-FF15-0858-5237-864A7799EE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97;p15">
            <a:extLst>
              <a:ext uri="{FF2B5EF4-FFF2-40B4-BE49-F238E27FC236}">
                <a16:creationId xmlns:a16="http://schemas.microsoft.com/office/drawing/2014/main" id="{3D9D43B4-315F-2A9C-BADD-AFD7EC287CB7}"/>
              </a:ext>
            </a:extLst>
          </p:cNvPr>
          <p:cNvSpPr/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entry points</a:t>
            </a:r>
            <a:endParaRPr/>
          </a:p>
        </p:txBody>
      </p:sp>
      <p:sp>
        <p:nvSpPr>
          <p:cNvPr id="20" name="Google Shape;198;p15">
            <a:extLst>
              <a:ext uri="{FF2B5EF4-FFF2-40B4-BE49-F238E27FC236}">
                <a16:creationId xmlns:a16="http://schemas.microsoft.com/office/drawing/2014/main" id="{E0A18D8A-F6A3-E3BF-5932-27C30906E6C7}"/>
              </a:ext>
            </a:extLst>
          </p:cNvPr>
          <p:cNvSpPr txBox="1"/>
          <p:nvPr/>
        </p:nvSpPr>
        <p:spPr>
          <a:xfrm>
            <a:off x="559650" y="1575400"/>
            <a:ext cx="10584600" cy="5093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Visos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komandos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dalyvaujančios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Lietuvos DRONE GAMES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varžybose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moka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metinį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nario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mokestį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- 50 €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iki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lapkričio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mėnesio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varžybų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50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Sausio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mėnesį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bus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patikslinta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finalistų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formavimo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tvarka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50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Įvykus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DRONE GAMES #2 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bus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skelbiami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finalininkai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50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Komandos-finalininkės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turi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įsigyti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komandos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numerį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kurio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kaina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200 €.</a:t>
            </a:r>
            <a:endParaRPr sz="250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Vilniaus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lygos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atrinkti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finalininkai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turės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sumokėti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250 €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finalo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mokestį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500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Pinigus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pervesti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į </a:t>
            </a:r>
            <a:r>
              <a:rPr lang="lt-LT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VšĮ </a:t>
            </a:r>
            <a:r>
              <a:rPr lang="lt-LT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Krypton</a:t>
            </a:r>
            <a:r>
              <a:rPr lang="lt-LT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iniciatyvos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iki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kovo</a:t>
            </a:r>
            <a:r>
              <a:rPr lang="en-US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1 d.</a:t>
            </a:r>
            <a:r>
              <a:rPr lang="lt-LT" sz="25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lt-LT" sz="1400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(tikslesnė informacija bus atsiųsta vėliau)</a:t>
            </a:r>
            <a:endParaRPr sz="1400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99;p15">
            <a:extLst>
              <a:ext uri="{FF2B5EF4-FFF2-40B4-BE49-F238E27FC236}">
                <a16:creationId xmlns:a16="http://schemas.microsoft.com/office/drawing/2014/main" id="{27006AFF-4A06-11AC-93D3-E44872CE3B38}"/>
              </a:ext>
            </a:extLst>
          </p:cNvPr>
          <p:cNvSpPr/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Mokslas</a:t>
            </a:r>
            <a:r>
              <a:rPr lang="en-US" sz="2000" b="1" i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1" i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bendrystė</a:t>
            </a:r>
            <a:r>
              <a:rPr lang="en-US" sz="2000" b="1" i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</a:t>
            </a:r>
            <a:r>
              <a:rPr lang="en-US" sz="2000" b="1" i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technologijos</a:t>
            </a:r>
            <a:endParaRPr sz="2000" i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9257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6A32-C97C-3684-AB25-E098019D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5;p16">
            <a:extLst>
              <a:ext uri="{FF2B5EF4-FFF2-40B4-BE49-F238E27FC236}">
                <a16:creationId xmlns:a16="http://schemas.microsoft.com/office/drawing/2014/main" id="{CD831EE9-9B50-E357-317E-4061D4D7D129}"/>
              </a:ext>
            </a:extLst>
          </p:cNvPr>
          <p:cNvSpPr/>
          <p:nvPr/>
        </p:nvSpPr>
        <p:spPr>
          <a:xfrm>
            <a:off x="685800" y="628650"/>
            <a:ext cx="10287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LIETUVOS ADC naudingos nuorodos</a:t>
            </a:r>
            <a:endParaRPr sz="3200" i="1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06;p16">
            <a:extLst>
              <a:ext uri="{FF2B5EF4-FFF2-40B4-BE49-F238E27FC236}">
                <a16:creationId xmlns:a16="http://schemas.microsoft.com/office/drawing/2014/main" id="{71073935-D3E0-50B7-6E7E-2F36E1E8C752}"/>
              </a:ext>
            </a:extLst>
          </p:cNvPr>
          <p:cNvSpPr/>
          <p:nvPr/>
        </p:nvSpPr>
        <p:spPr>
          <a:xfrm>
            <a:off x="685800" y="1323975"/>
            <a:ext cx="533400" cy="38100"/>
          </a:xfrm>
          <a:prstGeom prst="rect">
            <a:avLst/>
          </a:prstGeom>
          <a:solidFill>
            <a:srgbClr val="D66A1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07;p16">
            <a:extLst>
              <a:ext uri="{FF2B5EF4-FFF2-40B4-BE49-F238E27FC236}">
                <a16:creationId xmlns:a16="http://schemas.microsoft.com/office/drawing/2014/main" id="{1E55FA5D-0CC6-8D79-EEB2-5347CC2ADB18}"/>
              </a:ext>
            </a:extLst>
          </p:cNvPr>
          <p:cNvSpPr/>
          <p:nvPr/>
        </p:nvSpPr>
        <p:spPr>
          <a:xfrm>
            <a:off x="685800" y="6438900"/>
            <a:ext cx="2952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>
                <a:solidFill>
                  <a:srgbClr val="607086"/>
                </a:solidFill>
                <a:latin typeface="Calibri"/>
                <a:ea typeface="Calibri"/>
                <a:cs typeface="Calibri"/>
                <a:sym typeface="Calibri"/>
              </a:rPr>
              <a:t>LITUANICA X  /  ROBOTICS FORCE</a:t>
            </a:r>
            <a:endParaRPr/>
          </a:p>
        </p:txBody>
      </p:sp>
      <p:sp>
        <p:nvSpPr>
          <p:cNvPr id="13" name="Google Shape;208;p16">
            <a:extLst>
              <a:ext uri="{FF2B5EF4-FFF2-40B4-BE49-F238E27FC236}">
                <a16:creationId xmlns:a16="http://schemas.microsoft.com/office/drawing/2014/main" id="{B84DFCAE-1BC6-4D7B-38BE-EBD16867112D}"/>
              </a:ext>
            </a:extLst>
          </p:cNvPr>
          <p:cNvSpPr/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>
                <a:solidFill>
                  <a:srgbClr val="60708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pic>
        <p:nvPicPr>
          <p:cNvPr id="16" name="Google Shape;209;p16">
            <a:extLst>
              <a:ext uri="{FF2B5EF4-FFF2-40B4-BE49-F238E27FC236}">
                <a16:creationId xmlns:a16="http://schemas.microsoft.com/office/drawing/2014/main" id="{5A1364F2-22D9-1B0E-5B41-A647B917DA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4160" y="247650"/>
            <a:ext cx="1560368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0;p16">
            <a:extLst>
              <a:ext uri="{FF2B5EF4-FFF2-40B4-BE49-F238E27FC236}">
                <a16:creationId xmlns:a16="http://schemas.microsoft.com/office/drawing/2014/main" id="{8820B368-492B-E917-9979-E40CA8F8325A}"/>
              </a:ext>
            </a:extLst>
          </p:cNvPr>
          <p:cNvSpPr/>
          <p:nvPr/>
        </p:nvSpPr>
        <p:spPr>
          <a:xfrm>
            <a:off x="8858250" y="4400550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entry points</a:t>
            </a:r>
            <a:endParaRPr/>
          </a:p>
        </p:txBody>
      </p:sp>
      <p:sp>
        <p:nvSpPr>
          <p:cNvPr id="22" name="Google Shape;211;p16">
            <a:extLst>
              <a:ext uri="{FF2B5EF4-FFF2-40B4-BE49-F238E27FC236}">
                <a16:creationId xmlns:a16="http://schemas.microsoft.com/office/drawing/2014/main" id="{722EF141-52C0-D2D0-D8CA-FF09C3C479EC}"/>
              </a:ext>
            </a:extLst>
          </p:cNvPr>
          <p:cNvSpPr txBox="1"/>
          <p:nvPr/>
        </p:nvSpPr>
        <p:spPr>
          <a:xfrm>
            <a:off x="685800" y="1866900"/>
            <a:ext cx="9754985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DRONE GAMES 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medžiaga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 u="sng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DRONE GAMES – „„Google“ </a:t>
            </a:r>
            <a:r>
              <a:rPr lang="en-US" sz="2500" u="sng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diskas</a:t>
            </a:r>
            <a:r>
              <a:rPr lang="en-US" sz="2500" u="sng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</a:t>
            </a:r>
            <a:endParaRPr sz="2500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FAST TRACK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medžiaga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 u="sng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Aerial Drone v1.0 — Game Manual </a:t>
            </a:r>
            <a:endParaRPr sz="2500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RECF FAST TRACK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oficiali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taškų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skaičiuoklė</a:t>
            </a:r>
            <a:r>
              <a:rPr lang="en-US" sz="2500" b="1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74E6A"/>
              </a:buClr>
              <a:buSzPts val="2500"/>
              <a:buFont typeface="Arial"/>
              <a:buChar char="•"/>
            </a:pPr>
            <a:r>
              <a:rPr lang="en-US" sz="2500" u="sng" dirty="0">
                <a:solidFill>
                  <a:srgbClr val="074E6A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https://games.recf.org/adc/calculator </a:t>
            </a:r>
            <a:endParaRPr sz="2500" dirty="0">
              <a:solidFill>
                <a:srgbClr val="074E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12;p16">
            <a:extLst>
              <a:ext uri="{FF2B5EF4-FFF2-40B4-BE49-F238E27FC236}">
                <a16:creationId xmlns:a16="http://schemas.microsoft.com/office/drawing/2014/main" id="{69FF038E-B51D-9360-FC42-26E8A6E842AC}"/>
              </a:ext>
            </a:extLst>
          </p:cNvPr>
          <p:cNvSpPr/>
          <p:nvPr/>
        </p:nvSpPr>
        <p:spPr>
          <a:xfrm>
            <a:off x="521703" y="6057385"/>
            <a:ext cx="8741664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Mokslas, bendrystė ir technologijos</a:t>
            </a:r>
            <a:endParaRPr sz="2000" i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4672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C4C6E-7FD9-727B-846F-E19AF16B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1AC466-5F03-7322-F0EE-85AD28657F43}"/>
              </a:ext>
            </a:extLst>
          </p:cNvPr>
          <p:cNvSpPr>
            <a:spLocks noGrp="1"/>
          </p:cNvSpPr>
          <p:nvPr/>
        </p:nvSpPr>
        <p:spPr>
          <a:xfrm>
            <a:off x="0" y="-3257"/>
            <a:ext cx="12192000" cy="6858000"/>
          </a:xfrm>
          <a:prstGeom prst="rect">
            <a:avLst/>
          </a:prstGeom>
          <a:solidFill>
            <a:srgbClr val="DDEA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F87163-952C-23E1-2134-5F23BEE92A1B}"/>
              </a:ext>
            </a:extLst>
          </p:cNvPr>
          <p:cNvSpPr>
            <a:spLocks noGrp="1"/>
          </p:cNvSpPr>
          <p:nvPr/>
        </p:nvSpPr>
        <p:spPr>
          <a:xfrm>
            <a:off x="0" y="5568696"/>
            <a:ext cx="12192000" cy="1289303"/>
          </a:xfrm>
          <a:prstGeom prst="rect">
            <a:avLst/>
          </a:prstGeom>
          <a:solidFill>
            <a:srgbClr val="071B3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7C8273-7990-500A-6F8F-E6DAADBD15AB}"/>
              </a:ext>
            </a:extLst>
          </p:cNvPr>
          <p:cNvSpPr>
            <a:spLocks noGrp="1"/>
          </p:cNvSpPr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925" b="1">
                <a:solidFill>
                  <a:srgbClr val="FFFFFF"/>
                </a:solidFill>
              </a:defRPr>
            </a:pPr>
            <a:r>
              <a:rPr lang="lt-LT" sz="2000" i="1" dirty="0">
                <a:solidFill>
                  <a:srgbClr val="FFFFFF"/>
                </a:solidFill>
              </a:rPr>
              <a:t>Mokslas, bendrystė ir technologijos</a:t>
            </a:r>
            <a:endParaRPr sz="2000" i="1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9705C3-D0BA-F749-F570-A7786FE24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17465" y="5634400"/>
            <a:ext cx="1175967" cy="1220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6B554A-0F3A-57A7-3DB2-E919A1DFED87}"/>
              </a:ext>
            </a:extLst>
          </p:cNvPr>
          <p:cNvSpPr txBox="1"/>
          <p:nvPr/>
        </p:nvSpPr>
        <p:spPr>
          <a:xfrm>
            <a:off x="420624" y="472061"/>
            <a:ext cx="83393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>
                <a:solidFill>
                  <a:schemeClr val="accent4">
                    <a:lumMod val="50000"/>
                  </a:schemeClr>
                </a:solidFill>
              </a:rPr>
              <a:t>BACK TO SCHOOL </a:t>
            </a:r>
            <a:endParaRPr lang="lt-LT" sz="4800" b="1" i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4000" i="1" dirty="0">
                <a:solidFill>
                  <a:schemeClr val="accent4">
                    <a:lumMod val="50000"/>
                  </a:schemeClr>
                </a:solidFill>
              </a:rPr>
              <a:t>A</a:t>
            </a:r>
            <a:r>
              <a:rPr lang="lt-LT" sz="4000" i="1" dirty="0" err="1">
                <a:solidFill>
                  <a:schemeClr val="accent4">
                    <a:lumMod val="50000"/>
                  </a:schemeClr>
                </a:solidFill>
              </a:rPr>
              <a:t>lumnų</a:t>
            </a:r>
            <a:r>
              <a:rPr lang="en-US" sz="40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4000" i="1" dirty="0" err="1">
                <a:solidFill>
                  <a:schemeClr val="accent4">
                    <a:lumMod val="50000"/>
                  </a:schemeClr>
                </a:solidFill>
              </a:rPr>
              <a:t>žaidimo</a:t>
            </a:r>
            <a:r>
              <a:rPr lang="en-US" sz="40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4000" i="1" dirty="0" err="1">
                <a:solidFill>
                  <a:schemeClr val="accent4">
                    <a:lumMod val="50000"/>
                  </a:schemeClr>
                </a:solidFill>
              </a:rPr>
              <a:t>apdovanojimai</a:t>
            </a:r>
            <a:endParaRPr lang="he-IL" sz="4000" i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514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Render">
            <a:hlinkClick r:id="" action="ppaction://media"/>
            <a:extLst>
              <a:ext uri="{FF2B5EF4-FFF2-40B4-BE49-F238E27FC236}">
                <a16:creationId xmlns:a16="http://schemas.microsoft.com/office/drawing/2014/main" id="{183DDB4D-10DF-73B4-117B-726C06BA635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1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2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ipient-rule">
            <a:extLst>
              <a:ext uri="{FF2B5EF4-FFF2-40B4-BE49-F238E27FC236}">
                <a16:creationId xmlns:a16="http://schemas.microsoft.com/office/drawing/2014/main" id="{FC940817-714D-45A3-B7B6-AF6DB2C32643}"/>
              </a:ext>
            </a:extLst>
          </p:cNvPr>
          <p:cNvSpPr>
            <a:spLocks noGrp="1"/>
          </p:cNvSpPr>
          <p:nvPr/>
        </p:nvSpPr>
        <p:spPr>
          <a:xfrm>
            <a:off x="4538752" y="3890075"/>
            <a:ext cx="3114497" cy="12214"/>
          </a:xfrm>
          <a:prstGeom prst="rect">
            <a:avLst/>
          </a:prstGeom>
          <a:solidFill>
            <a:srgbClr val="9A3F08"/>
          </a:solidFill>
          <a:ln w="0">
            <a:noFill/>
            <a:prstDash val="solid"/>
          </a:ln>
        </p:spPr>
        <p:txBody>
          <a:bodyPr/>
          <a:lstStyle/>
          <a:p>
            <a:endParaRPr lang="en-GB" sz="1154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47916" y="439694"/>
            <a:ext cx="1492841" cy="1493551"/>
          </a:xfrm>
          <a:prstGeom prst="rect">
            <a:avLst/>
          </a:prstGeom>
        </p:spPr>
      </p:pic>
      <p:sp>
        <p:nvSpPr>
          <p:cNvPr id="9" name="achievement-subtitle">
            <a:extLst>
              <a:ext uri="{FF2B5EF4-FFF2-40B4-BE49-F238E27FC236}">
                <a16:creationId xmlns:a16="http://schemas.microsoft.com/office/drawing/2014/main" id="{C6739832-7D74-4176-B16D-1E291BFAB96A}"/>
              </a:ext>
            </a:extLst>
          </p:cNvPr>
          <p:cNvSpPr>
            <a:spLocks noGrp="1"/>
          </p:cNvSpPr>
          <p:nvPr/>
        </p:nvSpPr>
        <p:spPr>
          <a:xfrm>
            <a:off x="4231745" y="2326713"/>
            <a:ext cx="4111157" cy="5893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9A3F08"/>
                </a:solidFill>
                <a:latin typeface="Aptos"/>
                <a:ea typeface="Aptos"/>
                <a:cs typeface="Aptos"/>
              </a:defRPr>
            </a:pPr>
            <a:r>
              <a:rPr lang="en-US" sz="36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1</a:t>
            </a:r>
            <a:r>
              <a:rPr lang="en-US" sz="28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 VIETA, </a:t>
            </a:r>
            <a:r>
              <a:rPr lang="en-US" sz="36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1000</a:t>
            </a:r>
            <a:r>
              <a:rPr lang="en-US" sz="28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 EUR</a:t>
            </a:r>
            <a:endParaRPr sz="2800" b="1" dirty="0">
              <a:solidFill>
                <a:srgbClr val="9A3F08"/>
              </a:solidFill>
              <a:latin typeface="Georgia" panose="02040502050405020303" pitchFamily="18" charset="0"/>
              <a:ea typeface="Aptos"/>
              <a:cs typeface="Aptos"/>
            </a:endParaRPr>
          </a:p>
        </p:txBody>
      </p:sp>
      <p:sp>
        <p:nvSpPr>
          <p:cNvPr id="11" name="participant-name">
            <a:extLst>
              <a:ext uri="{FF2B5EF4-FFF2-40B4-BE49-F238E27FC236}">
                <a16:creationId xmlns:a16="http://schemas.microsoft.com/office/drawing/2014/main" id="{28B097F4-F37C-4449-A258-C9295426A9B1}"/>
              </a:ext>
            </a:extLst>
          </p:cNvPr>
          <p:cNvSpPr>
            <a:spLocks noGrp="1"/>
          </p:cNvSpPr>
          <p:nvPr/>
        </p:nvSpPr>
        <p:spPr>
          <a:xfrm>
            <a:off x="2798065" y="3312970"/>
            <a:ext cx="6236208" cy="4580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102A55"/>
                </a:solidFill>
                <a:latin typeface="Georgia"/>
                <a:ea typeface="Georgia"/>
                <a:cs typeface="Georgia"/>
              </a:defRPr>
            </a:pPr>
            <a:r>
              <a:rPr lang="en-US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#25963</a:t>
            </a:r>
            <a:r>
              <a:rPr lang="lt-LT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ANDROID</a:t>
            </a:r>
            <a:endParaRPr sz="2800" b="1" dirty="0">
              <a:solidFill>
                <a:srgbClr val="102A55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3" name="event-name">
            <a:extLst>
              <a:ext uri="{FF2B5EF4-FFF2-40B4-BE49-F238E27FC236}">
                <a16:creationId xmlns:a16="http://schemas.microsoft.com/office/drawing/2014/main" id="{6AC53C05-CDE0-4BF2-8BCE-ADA798C1B024}"/>
              </a:ext>
            </a:extLst>
          </p:cNvPr>
          <p:cNvSpPr>
            <a:spLocks noGrp="1"/>
          </p:cNvSpPr>
          <p:nvPr/>
        </p:nvSpPr>
        <p:spPr>
          <a:xfrm>
            <a:off x="4282264" y="4299228"/>
            <a:ext cx="3627473" cy="5007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2025" b="1" i="0">
                <a:solidFill>
                  <a:srgbClr val="9A3F08"/>
                </a:solidFill>
                <a:latin typeface="Aptos"/>
                <a:ea typeface="Aptos"/>
                <a:cs typeface="Aptos"/>
              </a:defRPr>
            </a:pPr>
            <a:r>
              <a:rPr sz="1795" b="1" dirty="0">
                <a:solidFill>
                  <a:srgbClr val="9A3F08"/>
                </a:solidFill>
                <a:latin typeface="Aptos"/>
                <a:ea typeface="Aptos"/>
                <a:cs typeface="Aptos"/>
              </a:rPr>
              <a:t>AI RACING — BACK TO SCHOOL</a:t>
            </a:r>
          </a:p>
          <a:p>
            <a:pPr algn="ctr">
              <a:lnSpc>
                <a:spcPct val="92000"/>
              </a:lnSpc>
              <a:buNone/>
              <a:defRPr sz="2025" b="1" i="0">
                <a:solidFill>
                  <a:srgbClr val="9A3F08"/>
                </a:solidFill>
                <a:latin typeface="Aptos"/>
                <a:ea typeface="Aptos"/>
                <a:cs typeface="Aptos"/>
              </a:defRPr>
            </a:pPr>
            <a:r>
              <a:rPr sz="1795" b="1" dirty="0">
                <a:solidFill>
                  <a:srgbClr val="9A3F08"/>
                </a:solidFill>
                <a:latin typeface="Aptos"/>
                <a:ea typeface="Aptos"/>
                <a:cs typeface="Aptos"/>
              </a:rPr>
              <a:t>VIRTUAL CHALLENGE 2026</a:t>
            </a:r>
          </a:p>
        </p:txBody>
      </p:sp>
    </p:spTree>
    <p:extLst>
      <p:ext uri="{BB962C8B-B14F-4D97-AF65-F5344CB8AC3E}">
        <p14:creationId xmlns:p14="http://schemas.microsoft.com/office/powerpoint/2010/main" val="182639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1EE8-CA68-E5BD-6B9F-259D04AF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ipient-rule">
            <a:extLst>
              <a:ext uri="{FF2B5EF4-FFF2-40B4-BE49-F238E27FC236}">
                <a16:creationId xmlns:a16="http://schemas.microsoft.com/office/drawing/2014/main" id="{E2A5C187-4B5E-3E0A-B153-1DB6F06260F9}"/>
              </a:ext>
            </a:extLst>
          </p:cNvPr>
          <p:cNvSpPr>
            <a:spLocks noGrp="1"/>
          </p:cNvSpPr>
          <p:nvPr/>
        </p:nvSpPr>
        <p:spPr>
          <a:xfrm>
            <a:off x="4538752" y="3890075"/>
            <a:ext cx="3114497" cy="12214"/>
          </a:xfrm>
          <a:prstGeom prst="rect">
            <a:avLst/>
          </a:prstGeom>
          <a:solidFill>
            <a:srgbClr val="9A3F08"/>
          </a:solidFill>
          <a:ln w="0">
            <a:noFill/>
            <a:prstDash val="solid"/>
          </a:ln>
        </p:spPr>
        <p:txBody>
          <a:bodyPr/>
          <a:lstStyle/>
          <a:p>
            <a:endParaRPr lang="en-GB" sz="1154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43183C8-8380-D329-BAC2-52771200C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47916" y="439694"/>
            <a:ext cx="1492841" cy="1493551"/>
          </a:xfrm>
          <a:prstGeom prst="rect">
            <a:avLst/>
          </a:prstGeom>
        </p:spPr>
      </p:pic>
      <p:sp>
        <p:nvSpPr>
          <p:cNvPr id="9" name="achievement-subtitle">
            <a:extLst>
              <a:ext uri="{FF2B5EF4-FFF2-40B4-BE49-F238E27FC236}">
                <a16:creationId xmlns:a16="http://schemas.microsoft.com/office/drawing/2014/main" id="{9B90A495-841C-1C38-3029-E84AC969876D}"/>
              </a:ext>
            </a:extLst>
          </p:cNvPr>
          <p:cNvSpPr>
            <a:spLocks noGrp="1"/>
          </p:cNvSpPr>
          <p:nvPr/>
        </p:nvSpPr>
        <p:spPr>
          <a:xfrm>
            <a:off x="4231745" y="2326713"/>
            <a:ext cx="4111157" cy="5893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9A3F08"/>
                </a:solidFill>
                <a:latin typeface="Aptos"/>
                <a:ea typeface="Aptos"/>
                <a:cs typeface="Aptos"/>
              </a:defRPr>
            </a:pPr>
            <a:r>
              <a:rPr lang="en-US" sz="36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2</a:t>
            </a:r>
            <a:r>
              <a:rPr lang="en-US" sz="28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 VIETA, </a:t>
            </a:r>
            <a:r>
              <a:rPr lang="en-US" sz="36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600</a:t>
            </a:r>
            <a:r>
              <a:rPr lang="en-US" sz="28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 EUR</a:t>
            </a:r>
            <a:endParaRPr sz="2800" b="1" dirty="0">
              <a:solidFill>
                <a:srgbClr val="9A3F08"/>
              </a:solidFill>
              <a:latin typeface="Georgia" panose="02040502050405020303" pitchFamily="18" charset="0"/>
              <a:ea typeface="Aptos"/>
              <a:cs typeface="Aptos"/>
            </a:endParaRPr>
          </a:p>
        </p:txBody>
      </p:sp>
      <p:sp>
        <p:nvSpPr>
          <p:cNvPr id="11" name="participant-name">
            <a:extLst>
              <a:ext uri="{FF2B5EF4-FFF2-40B4-BE49-F238E27FC236}">
                <a16:creationId xmlns:a16="http://schemas.microsoft.com/office/drawing/2014/main" id="{7C57DA64-0E13-0588-A72F-EF07C2F498A7}"/>
              </a:ext>
            </a:extLst>
          </p:cNvPr>
          <p:cNvSpPr>
            <a:spLocks noGrp="1"/>
          </p:cNvSpPr>
          <p:nvPr/>
        </p:nvSpPr>
        <p:spPr>
          <a:xfrm>
            <a:off x="2798065" y="3312970"/>
            <a:ext cx="6236208" cy="4580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102A55"/>
                </a:solidFill>
                <a:latin typeface="Georgia"/>
                <a:ea typeface="Georgia"/>
                <a:cs typeface="Georgia"/>
              </a:defRPr>
            </a:pPr>
            <a:r>
              <a:rPr lang="en-US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#34201 Rie</a:t>
            </a:r>
            <a:r>
              <a:rPr lang="lt-LT" sz="2800" b="1" dirty="0" err="1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šės</a:t>
            </a:r>
            <a:r>
              <a:rPr lang="lt-LT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Robot</a:t>
            </a:r>
            <a:r>
              <a:rPr lang="lt-LT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ai</a:t>
            </a:r>
            <a:endParaRPr sz="2800" b="1" dirty="0">
              <a:solidFill>
                <a:srgbClr val="102A55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3" name="event-name">
            <a:extLst>
              <a:ext uri="{FF2B5EF4-FFF2-40B4-BE49-F238E27FC236}">
                <a16:creationId xmlns:a16="http://schemas.microsoft.com/office/drawing/2014/main" id="{886D7316-7C89-ED76-A349-6084E962AACC}"/>
              </a:ext>
            </a:extLst>
          </p:cNvPr>
          <p:cNvSpPr>
            <a:spLocks noGrp="1"/>
          </p:cNvSpPr>
          <p:nvPr/>
        </p:nvSpPr>
        <p:spPr>
          <a:xfrm>
            <a:off x="4282264" y="4299228"/>
            <a:ext cx="3627473" cy="5007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2025" b="1" i="0">
                <a:solidFill>
                  <a:srgbClr val="9A3F08"/>
                </a:solidFill>
                <a:latin typeface="Aptos"/>
                <a:ea typeface="Aptos"/>
                <a:cs typeface="Aptos"/>
              </a:defRPr>
            </a:pPr>
            <a:r>
              <a:rPr sz="1795" b="1" dirty="0">
                <a:solidFill>
                  <a:srgbClr val="9A3F08"/>
                </a:solidFill>
                <a:latin typeface="Aptos"/>
                <a:ea typeface="Aptos"/>
                <a:cs typeface="Aptos"/>
              </a:rPr>
              <a:t>AI RACING — BACK TO SCHOOL</a:t>
            </a:r>
          </a:p>
          <a:p>
            <a:pPr algn="ctr">
              <a:lnSpc>
                <a:spcPct val="92000"/>
              </a:lnSpc>
              <a:buNone/>
              <a:defRPr sz="2025" b="1" i="0">
                <a:solidFill>
                  <a:srgbClr val="9A3F08"/>
                </a:solidFill>
                <a:latin typeface="Aptos"/>
                <a:ea typeface="Aptos"/>
                <a:cs typeface="Aptos"/>
              </a:defRPr>
            </a:pPr>
            <a:r>
              <a:rPr sz="1795" b="1" dirty="0">
                <a:solidFill>
                  <a:srgbClr val="9A3F08"/>
                </a:solidFill>
                <a:latin typeface="Aptos"/>
                <a:ea typeface="Aptos"/>
                <a:cs typeface="Aptos"/>
              </a:rPr>
              <a:t>VIRTUAL CHALLENGE 2026</a:t>
            </a:r>
          </a:p>
        </p:txBody>
      </p:sp>
    </p:spTree>
    <p:extLst>
      <p:ext uri="{BB962C8B-B14F-4D97-AF65-F5344CB8AC3E}">
        <p14:creationId xmlns:p14="http://schemas.microsoft.com/office/powerpoint/2010/main" val="666164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A4963-3DE7-95BF-C36E-6C1B882F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ipient-rule">
            <a:extLst>
              <a:ext uri="{FF2B5EF4-FFF2-40B4-BE49-F238E27FC236}">
                <a16:creationId xmlns:a16="http://schemas.microsoft.com/office/drawing/2014/main" id="{F02C93D0-CD8B-4B95-8354-4905897B157C}"/>
              </a:ext>
            </a:extLst>
          </p:cNvPr>
          <p:cNvSpPr>
            <a:spLocks noGrp="1"/>
          </p:cNvSpPr>
          <p:nvPr/>
        </p:nvSpPr>
        <p:spPr>
          <a:xfrm>
            <a:off x="4538752" y="3890075"/>
            <a:ext cx="3114497" cy="12214"/>
          </a:xfrm>
          <a:prstGeom prst="rect">
            <a:avLst/>
          </a:prstGeom>
          <a:solidFill>
            <a:srgbClr val="9A3F08"/>
          </a:solidFill>
          <a:ln w="0">
            <a:noFill/>
            <a:prstDash val="solid"/>
          </a:ln>
        </p:spPr>
        <p:txBody>
          <a:bodyPr/>
          <a:lstStyle/>
          <a:p>
            <a:endParaRPr lang="en-GB" sz="1154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CAD7A3B-8338-47EE-8F81-ED1846288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47916" y="439694"/>
            <a:ext cx="1492841" cy="1493551"/>
          </a:xfrm>
          <a:prstGeom prst="rect">
            <a:avLst/>
          </a:prstGeom>
        </p:spPr>
      </p:pic>
      <p:sp>
        <p:nvSpPr>
          <p:cNvPr id="9" name="achievement-subtitle">
            <a:extLst>
              <a:ext uri="{FF2B5EF4-FFF2-40B4-BE49-F238E27FC236}">
                <a16:creationId xmlns:a16="http://schemas.microsoft.com/office/drawing/2014/main" id="{D9FFAE43-9A57-FC22-EB9A-9AB92FCF8325}"/>
              </a:ext>
            </a:extLst>
          </p:cNvPr>
          <p:cNvSpPr>
            <a:spLocks noGrp="1"/>
          </p:cNvSpPr>
          <p:nvPr/>
        </p:nvSpPr>
        <p:spPr>
          <a:xfrm>
            <a:off x="4231745" y="2326713"/>
            <a:ext cx="4111157" cy="5893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9A3F08"/>
                </a:solidFill>
                <a:latin typeface="Aptos"/>
                <a:ea typeface="Aptos"/>
                <a:cs typeface="Aptos"/>
              </a:defRPr>
            </a:pPr>
            <a:r>
              <a:rPr lang="en-US" sz="36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3</a:t>
            </a:r>
            <a:r>
              <a:rPr lang="en-US" sz="28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 VIETA, </a:t>
            </a:r>
            <a:r>
              <a:rPr lang="en-US" sz="36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400</a:t>
            </a:r>
            <a:r>
              <a:rPr lang="en-US" sz="2800" b="1" dirty="0">
                <a:solidFill>
                  <a:srgbClr val="9A3F08"/>
                </a:solidFill>
                <a:latin typeface="Georgia" panose="02040502050405020303" pitchFamily="18" charset="0"/>
                <a:ea typeface="Aptos"/>
                <a:cs typeface="Aptos"/>
              </a:rPr>
              <a:t> EUR</a:t>
            </a:r>
            <a:endParaRPr sz="2800" b="1" dirty="0">
              <a:solidFill>
                <a:srgbClr val="9A3F08"/>
              </a:solidFill>
              <a:latin typeface="Georgia" panose="02040502050405020303" pitchFamily="18" charset="0"/>
              <a:ea typeface="Aptos"/>
              <a:cs typeface="Aptos"/>
            </a:endParaRPr>
          </a:p>
        </p:txBody>
      </p:sp>
      <p:sp>
        <p:nvSpPr>
          <p:cNvPr id="11" name="participant-name">
            <a:extLst>
              <a:ext uri="{FF2B5EF4-FFF2-40B4-BE49-F238E27FC236}">
                <a16:creationId xmlns:a16="http://schemas.microsoft.com/office/drawing/2014/main" id="{0F9CB819-E2B0-9B7D-9BCA-90452E45EB12}"/>
              </a:ext>
            </a:extLst>
          </p:cNvPr>
          <p:cNvSpPr>
            <a:spLocks noGrp="1"/>
          </p:cNvSpPr>
          <p:nvPr/>
        </p:nvSpPr>
        <p:spPr>
          <a:xfrm>
            <a:off x="2798065" y="3312970"/>
            <a:ext cx="6236208" cy="4580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102A55"/>
                </a:solidFill>
                <a:latin typeface="Georgia"/>
                <a:ea typeface="Georgia"/>
                <a:cs typeface="Georgia"/>
              </a:defRPr>
            </a:pPr>
            <a:r>
              <a:rPr lang="en-US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#</a:t>
            </a:r>
            <a:r>
              <a:rPr lang="lt-LT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24474 </a:t>
            </a:r>
            <a:r>
              <a:rPr lang="lt-LT" sz="2800" b="1" dirty="0" err="1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Vilni</a:t>
            </a:r>
            <a:r>
              <a:rPr lang="en-US" sz="2800" b="1" dirty="0">
                <a:solidFill>
                  <a:srgbClr val="102A55"/>
                </a:solidFill>
                <a:latin typeface="Georgia"/>
                <a:ea typeface="Georgia"/>
                <a:cs typeface="Georgia"/>
              </a:rPr>
              <a:t>us Lyceum Robotics</a:t>
            </a:r>
            <a:endParaRPr sz="2800" b="1" dirty="0">
              <a:solidFill>
                <a:srgbClr val="102A55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3" name="event-name">
            <a:extLst>
              <a:ext uri="{FF2B5EF4-FFF2-40B4-BE49-F238E27FC236}">
                <a16:creationId xmlns:a16="http://schemas.microsoft.com/office/drawing/2014/main" id="{A8C1BF5F-B680-4660-B21E-53FA27425E96}"/>
              </a:ext>
            </a:extLst>
          </p:cNvPr>
          <p:cNvSpPr>
            <a:spLocks noGrp="1"/>
          </p:cNvSpPr>
          <p:nvPr/>
        </p:nvSpPr>
        <p:spPr>
          <a:xfrm>
            <a:off x="4282264" y="4299228"/>
            <a:ext cx="3627473" cy="5007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2025" b="1" i="0">
                <a:solidFill>
                  <a:srgbClr val="9A3F08"/>
                </a:solidFill>
                <a:latin typeface="Aptos"/>
                <a:ea typeface="Aptos"/>
                <a:cs typeface="Aptos"/>
              </a:defRPr>
            </a:pPr>
            <a:r>
              <a:rPr sz="1795" b="1" dirty="0">
                <a:solidFill>
                  <a:srgbClr val="9A3F08"/>
                </a:solidFill>
                <a:latin typeface="Aptos"/>
                <a:ea typeface="Aptos"/>
                <a:cs typeface="Aptos"/>
              </a:rPr>
              <a:t>AI RACING — BACK TO SCHOOL</a:t>
            </a:r>
          </a:p>
          <a:p>
            <a:pPr algn="ctr">
              <a:lnSpc>
                <a:spcPct val="92000"/>
              </a:lnSpc>
              <a:buNone/>
              <a:defRPr sz="2025" b="1" i="0">
                <a:solidFill>
                  <a:srgbClr val="9A3F08"/>
                </a:solidFill>
                <a:latin typeface="Aptos"/>
                <a:ea typeface="Aptos"/>
                <a:cs typeface="Aptos"/>
              </a:defRPr>
            </a:pPr>
            <a:r>
              <a:rPr sz="1795" b="1" dirty="0">
                <a:solidFill>
                  <a:srgbClr val="9A3F08"/>
                </a:solidFill>
                <a:latin typeface="Aptos"/>
                <a:ea typeface="Aptos"/>
                <a:cs typeface="Aptos"/>
              </a:rPr>
              <a:t>VIRTUAL CHALLENGE 2026</a:t>
            </a:r>
          </a:p>
        </p:txBody>
      </p:sp>
    </p:spTree>
    <p:extLst>
      <p:ext uri="{BB962C8B-B14F-4D97-AF65-F5344CB8AC3E}">
        <p14:creationId xmlns:p14="http://schemas.microsoft.com/office/powerpoint/2010/main" val="2667090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A25F-D900-4873-F7DB-7BE86303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2408D5-172B-F13E-7363-B8038B40DBB6}"/>
              </a:ext>
            </a:extLst>
          </p:cNvPr>
          <p:cNvSpPr>
            <a:spLocks noGrp="1"/>
          </p:cNvSpPr>
          <p:nvPr/>
        </p:nvSpPr>
        <p:spPr>
          <a:xfrm>
            <a:off x="0" y="-3257"/>
            <a:ext cx="12192000" cy="6858000"/>
          </a:xfrm>
          <a:prstGeom prst="rect">
            <a:avLst/>
          </a:prstGeom>
          <a:solidFill>
            <a:srgbClr val="DDEA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A701F3-1804-2F4A-0DF0-CF5B67339D66}"/>
              </a:ext>
            </a:extLst>
          </p:cNvPr>
          <p:cNvSpPr>
            <a:spLocks noGrp="1"/>
          </p:cNvSpPr>
          <p:nvPr/>
        </p:nvSpPr>
        <p:spPr>
          <a:xfrm>
            <a:off x="0" y="5568696"/>
            <a:ext cx="12192000" cy="1289303"/>
          </a:xfrm>
          <a:prstGeom prst="rect">
            <a:avLst/>
          </a:prstGeom>
          <a:solidFill>
            <a:srgbClr val="071B3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26672-DC0C-EA9C-9BE7-543249BF9F01}"/>
              </a:ext>
            </a:extLst>
          </p:cNvPr>
          <p:cNvSpPr>
            <a:spLocks noGrp="1"/>
          </p:cNvSpPr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925" b="1">
                <a:solidFill>
                  <a:srgbClr val="FFFFFF"/>
                </a:solidFill>
              </a:defRPr>
            </a:pPr>
            <a:r>
              <a:rPr lang="lt-LT" sz="2000" i="1" dirty="0">
                <a:solidFill>
                  <a:srgbClr val="FFFFFF"/>
                </a:solidFill>
              </a:rPr>
              <a:t>Mokslas, bendrystė ir technologijos</a:t>
            </a:r>
            <a:endParaRPr sz="2000" i="1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0931A-A507-0F45-FC42-EB3B0276F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4897" y="5637657"/>
            <a:ext cx="1175967" cy="1220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830B50-8948-8935-81A3-10EE7EC5E3D3}"/>
              </a:ext>
            </a:extLst>
          </p:cNvPr>
          <p:cNvSpPr txBox="1"/>
          <p:nvPr/>
        </p:nvSpPr>
        <p:spPr>
          <a:xfrm>
            <a:off x="420624" y="472061"/>
            <a:ext cx="83393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>
                <a:solidFill>
                  <a:schemeClr val="accent4">
                    <a:lumMod val="50000"/>
                  </a:schemeClr>
                </a:solidFill>
              </a:rPr>
              <a:t>FTC</a:t>
            </a:r>
            <a:r>
              <a:rPr lang="lt-LT" sz="48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4800" b="1" i="1" dirty="0">
                <a:solidFill>
                  <a:schemeClr val="accent4">
                    <a:lumMod val="50000"/>
                  </a:schemeClr>
                </a:solidFill>
              </a:rPr>
              <a:t>S</a:t>
            </a:r>
            <a:r>
              <a:rPr lang="lt-LT" sz="4800" b="1" i="1" dirty="0">
                <a:solidFill>
                  <a:schemeClr val="accent4">
                    <a:lumMod val="50000"/>
                  </a:schemeClr>
                </a:solidFill>
              </a:rPr>
              <a:t>KILL BUILDERS</a:t>
            </a:r>
          </a:p>
          <a:p>
            <a:r>
              <a:rPr lang="lt-LT" sz="4000" i="1" dirty="0">
                <a:solidFill>
                  <a:schemeClr val="accent4">
                    <a:lumMod val="50000"/>
                  </a:schemeClr>
                </a:solidFill>
              </a:rPr>
              <a:t>V</a:t>
            </a:r>
            <a:r>
              <a:rPr lang="en-US" sz="4000" i="1" dirty="0">
                <a:solidFill>
                  <a:schemeClr val="accent4">
                    <a:lumMod val="50000"/>
                  </a:schemeClr>
                </a:solidFill>
              </a:rPr>
              <a:t>a</a:t>
            </a:r>
            <a:r>
              <a:rPr lang="lt-LT" sz="4000" i="1" dirty="0">
                <a:solidFill>
                  <a:schemeClr val="accent4">
                    <a:lumMod val="50000"/>
                  </a:schemeClr>
                </a:solidFill>
              </a:rPr>
              <a:t>r</a:t>
            </a:r>
            <a:r>
              <a:rPr lang="en-US" sz="4000" i="1" dirty="0">
                <a:solidFill>
                  <a:schemeClr val="accent4">
                    <a:lumMod val="50000"/>
                  </a:schemeClr>
                </a:solidFill>
              </a:rPr>
              <a:t>ž</a:t>
            </a:r>
            <a:r>
              <a:rPr lang="lt-LT" sz="4000" i="1" dirty="0" err="1">
                <a:solidFill>
                  <a:schemeClr val="accent4">
                    <a:lumMod val="50000"/>
                  </a:schemeClr>
                </a:solidFill>
              </a:rPr>
              <a:t>ybos</a:t>
            </a:r>
            <a:endParaRPr lang="he-IL" sz="4000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F9DFD3-4DF5-5BB6-ECF0-A492CB7F1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461" y="0"/>
            <a:ext cx="5792539" cy="383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931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4174-E59E-0A37-0D01-2299ACC4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8C7DB8-56C2-622E-4CF9-1A49D1E0A904}"/>
              </a:ext>
            </a:extLst>
          </p:cNvPr>
          <p:cNvSpPr>
            <a:spLocks noGrp="1"/>
          </p:cNvSpPr>
          <p:nvPr/>
        </p:nvSpPr>
        <p:spPr>
          <a:xfrm>
            <a:off x="0" y="-3257"/>
            <a:ext cx="12192000" cy="6858000"/>
          </a:xfrm>
          <a:prstGeom prst="rect">
            <a:avLst/>
          </a:prstGeom>
          <a:solidFill>
            <a:srgbClr val="DDEA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928DB7-1E6B-7E01-D66B-1F7D6FD6D3C1}"/>
              </a:ext>
            </a:extLst>
          </p:cNvPr>
          <p:cNvSpPr>
            <a:spLocks noGrp="1"/>
          </p:cNvSpPr>
          <p:nvPr/>
        </p:nvSpPr>
        <p:spPr>
          <a:xfrm>
            <a:off x="0" y="5559552"/>
            <a:ext cx="12192000" cy="1298448"/>
          </a:xfrm>
          <a:prstGeom prst="rect">
            <a:avLst/>
          </a:prstGeom>
          <a:solidFill>
            <a:srgbClr val="071B3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DDC2C9-BD1F-3438-86F2-27B5786D7BD0}"/>
              </a:ext>
            </a:extLst>
          </p:cNvPr>
          <p:cNvSpPr>
            <a:spLocks noGrp="1"/>
          </p:cNvSpPr>
          <p:nvPr/>
        </p:nvSpPr>
        <p:spPr>
          <a:xfrm>
            <a:off x="484632" y="6027697"/>
            <a:ext cx="87416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925" b="1">
                <a:solidFill>
                  <a:srgbClr val="FFFFFF"/>
                </a:solidFill>
              </a:defRPr>
            </a:pPr>
            <a:r>
              <a:rPr lang="lt-LT" sz="2000" i="1" dirty="0">
                <a:solidFill>
                  <a:srgbClr val="FFFFFF"/>
                </a:solidFill>
              </a:rPr>
              <a:t>Mokslas, bendrystė ir technologijos</a:t>
            </a:r>
            <a:endParaRPr sz="2000" i="1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F3B75D-6F26-B846-08E5-08534DB44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3408" y="5634400"/>
            <a:ext cx="1175967" cy="1220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C5D494-57BF-A827-7899-8CE2CDFA23A4}"/>
              </a:ext>
            </a:extLst>
          </p:cNvPr>
          <p:cNvSpPr txBox="1"/>
          <p:nvPr/>
        </p:nvSpPr>
        <p:spPr>
          <a:xfrm>
            <a:off x="228600" y="444629"/>
            <a:ext cx="8339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>
                <a:solidFill>
                  <a:schemeClr val="accent4">
                    <a:lumMod val="50000"/>
                  </a:schemeClr>
                </a:solidFill>
              </a:rPr>
              <a:t>FTC New  Game Reveal</a:t>
            </a:r>
            <a:endParaRPr lang="he-IL" sz="40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200D5A-8B6A-8473-C603-0F346D2E8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461" y="0"/>
            <a:ext cx="5792539" cy="383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09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2252" y="590550"/>
            <a:ext cx="871970" cy="9048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D631FF-2642-47A5-BE31-72E75FE3961F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191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lang="lt-LT" sz="4000" b="1" dirty="0">
                <a:solidFill>
                  <a:srgbClr val="FFFFFF"/>
                </a:solidFill>
              </a:rPr>
              <a:t>Gero naujo sezono</a:t>
            </a:r>
            <a:r>
              <a:rPr lang="en-US" sz="4000" b="1" dirty="0">
                <a:solidFill>
                  <a:srgbClr val="FFFFFF"/>
                </a:solidFill>
              </a:rPr>
              <a:t>! </a:t>
            </a:r>
            <a:endParaRPr sz="4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B6DA75-FAC4-42C4-832F-5E32480BE33E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953000" cy="19050"/>
          </a:xfrm>
          <a:prstGeom prst="rect">
            <a:avLst/>
          </a:prstGeom>
          <a:solidFill>
            <a:srgbClr val="D66A1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55EB92-70BA-4F2F-B72A-43AD332B0C92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lituanicax.lt  /  info@lituanicax.lt</a:t>
            </a:r>
          </a:p>
        </p:txBody>
      </p:sp>
    </p:spTree>
    <p:extLst>
      <p:ext uri="{BB962C8B-B14F-4D97-AF65-F5344CB8AC3E}">
        <p14:creationId xmlns:p14="http://schemas.microsoft.com/office/powerpoint/2010/main" val="13267930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1496</Words>
  <Application>Microsoft Office PowerPoint</Application>
  <DocSecurity>0</DocSecurity>
  <PresentationFormat>Widescreen</PresentationFormat>
  <Paragraphs>270</Paragraphs>
  <Slides>28</Slides>
  <Notes>25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Matas Ciuzelis</cp:lastModifiedBy>
  <cp:revision>11</cp:revision>
  <dcterms:created xsi:type="dcterms:W3CDTF">2026-08-17T12:30:56Z</dcterms:created>
  <dcterms:modified xsi:type="dcterms:W3CDTF">2026-09-12T09:53:56Z</dcterms:modified>
</cp:coreProperties>
</file>